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6"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7" d="100"/>
          <a:sy n="67" d="100"/>
        </p:scale>
        <p:origin x="-1476"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fld id="{EEE95ACF-6873-4445-914E-2C4FE1927869}" type="datetimeFigureOut">
              <a:rPr lang="en-US" smtClean="0"/>
              <a:pPr/>
              <a:t>3/4/2026</a:t>
            </a:fld>
            <a:endParaRPr lang="en-US"/>
          </a:p>
        </p:txBody>
      </p:sp>
      <p:sp>
        <p:nvSpPr>
          <p:cNvPr id="17" name="Footer Placeholder 16"/>
          <p:cNvSpPr>
            <a:spLocks noGrp="1"/>
          </p:cNvSpPr>
          <p:nvPr>
            <p:ph type="ftr" sz="quarter" idx="11"/>
          </p:nvPr>
        </p:nvSpPr>
        <p:spPr/>
        <p:txBody>
          <a:bodyPr/>
          <a:lstStyle/>
          <a:p>
            <a:endParaRPr lang="en-US"/>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F824DAA8-79B9-45B9-A4DA-8D16D940B6A5}" type="slidenum">
              <a:rPr lang="en-US" smtClean="0"/>
              <a:pPr/>
              <a:t>‹#›</a:t>
            </a:fld>
            <a:endParaRPr lang="en-US"/>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EEE95ACF-6873-4445-914E-2C4FE1927869}" type="datetimeFigureOut">
              <a:rPr lang="en-US" smtClean="0"/>
              <a:pPr/>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824DAA8-79B9-45B9-A4DA-8D16D940B6A5}" type="slidenum">
              <a:rPr lang="en-US" smtClean="0"/>
              <a:pPr/>
              <a:t>‹#›</a:t>
            </a:fld>
            <a:endParaRPr lang="en-US"/>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EEE95ACF-6873-4445-914E-2C4FE1927869}" type="datetimeFigureOut">
              <a:rPr lang="en-US" smtClean="0"/>
              <a:pPr/>
              <a:t>3/4/2026</a:t>
            </a:fld>
            <a:endParaRPr lang="en-US"/>
          </a:p>
        </p:txBody>
      </p:sp>
      <p:sp>
        <p:nvSpPr>
          <p:cNvPr id="5" name="Footer Placeholder 4"/>
          <p:cNvSpPr>
            <a:spLocks noGrp="1"/>
          </p:cNvSpPr>
          <p:nvPr>
            <p:ph type="ftr" sz="quarter" idx="11"/>
          </p:nvPr>
        </p:nvSpPr>
        <p:spPr>
          <a:xfrm>
            <a:off x="800100" y="6172200"/>
            <a:ext cx="4000500" cy="457200"/>
          </a:xfrm>
        </p:spPr>
        <p:txBody>
          <a:bodyPr/>
          <a:lstStyle/>
          <a:p>
            <a:endParaRPr lang="en-US"/>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F824DAA8-79B9-45B9-A4DA-8D16D940B6A5}"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EEE95ACF-6873-4445-914E-2C4FE1927869}" type="datetimeFigureOut">
              <a:rPr lang="en-US" smtClean="0"/>
              <a:pPr/>
              <a:t>3/4/2026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824DAA8-79B9-45B9-A4DA-8D16D940B6A5}" type="slidenum">
              <a:rPr lang="en-US" smtClean="0"/>
              <a:pPr/>
              <a:t>‹#›</a:t>
            </a:fld>
            <a:endParaRPr lang="en-US"/>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EEE95ACF-6873-4445-914E-2C4FE1927869}" type="datetimeFigureOut">
              <a:rPr lang="en-US" smtClean="0"/>
              <a:pPr/>
              <a:t>3/4/2026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824DAA8-79B9-45B9-A4DA-8D16D940B6A5}" type="slidenum">
              <a:rPr lang="en-US" smtClean="0"/>
              <a:pPr/>
              <a:t>‹#›</a:t>
            </a:fld>
            <a:endParaRPr lang="en-US"/>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EEE95ACF-6873-4445-914E-2C4FE1927869}" type="datetimeFigureOut">
              <a:rPr lang="en-US" smtClean="0"/>
              <a:pPr/>
              <a:t>3/4/2026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824DAA8-79B9-45B9-A4DA-8D16D940B6A5}"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EE95ACF-6873-4445-914E-2C4FE1927869}" type="datetimeFigureOut">
              <a:rPr lang="en-US" smtClean="0"/>
              <a:pPr/>
              <a:t>3/4/2026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824DAA8-79B9-45B9-A4DA-8D16D940B6A5}"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EEE95ACF-6873-4445-914E-2C4FE1927869}" type="datetimeFigureOut">
              <a:rPr lang="en-US" smtClean="0"/>
              <a:pPr/>
              <a:t>3/4/2026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824DAA8-79B9-45B9-A4DA-8D16D940B6A5}" type="slidenum">
              <a:rPr lang="en-US" smtClean="0"/>
              <a:pPr/>
              <a:t>‹#›</a:t>
            </a:fld>
            <a:endParaRPr lang="en-US"/>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EEE95ACF-6873-4445-914E-2C4FE1927869}" type="datetimeFigureOut">
              <a:rPr lang="en-US" smtClean="0"/>
              <a:pPr/>
              <a:t>3/4/2026</a:t>
            </a:fld>
            <a:endParaRPr lang="en-US"/>
          </a:p>
        </p:txBody>
      </p:sp>
      <p:sp>
        <p:nvSpPr>
          <p:cNvPr id="6" name="Footer Placeholder 5"/>
          <p:cNvSpPr>
            <a:spLocks noGrp="1"/>
          </p:cNvSpPr>
          <p:nvPr>
            <p:ph type="ftr" sz="quarter" idx="11"/>
          </p:nvPr>
        </p:nvSpPr>
        <p:spPr>
          <a:xfrm>
            <a:off x="914400" y="6172200"/>
            <a:ext cx="3886200" cy="457200"/>
          </a:xfrm>
        </p:spPr>
        <p:txBody>
          <a:bodyPr/>
          <a:lstStyle/>
          <a:p>
            <a:endParaRPr lang="en-US"/>
          </a:p>
        </p:txBody>
      </p:sp>
      <p:sp>
        <p:nvSpPr>
          <p:cNvPr id="7" name="Slide Number Placeholder 6"/>
          <p:cNvSpPr>
            <a:spLocks noGrp="1"/>
          </p:cNvSpPr>
          <p:nvPr>
            <p:ph type="sldNum" sz="quarter" idx="12"/>
          </p:nvPr>
        </p:nvSpPr>
        <p:spPr>
          <a:xfrm>
            <a:off x="146304" y="6208776"/>
            <a:ext cx="457200" cy="457200"/>
          </a:xfrm>
        </p:spPr>
        <p:txBody>
          <a:bodyPr/>
          <a:lstStyle/>
          <a:p>
            <a:fld id="{F824DAA8-79B9-45B9-A4DA-8D16D940B6A5}" type="slidenum">
              <a:rPr lang="en-US" smtClean="0"/>
              <a:pPr/>
              <a:t>‹#›</a:t>
            </a:fld>
            <a:endParaRPr lang="en-US"/>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smtClean="0"/>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EEE95ACF-6873-4445-914E-2C4FE1927869}" type="datetimeFigureOut">
              <a:rPr lang="en-US" smtClean="0"/>
              <a:pPr/>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824DAA8-79B9-45B9-A4DA-8D16D940B6A5}"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EEE95ACF-6873-4445-914E-2C4FE1927869}" type="datetimeFigureOut">
              <a:rPr lang="en-US" smtClean="0"/>
              <a:pPr/>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824DAA8-79B9-45B9-A4DA-8D16D940B6A5}"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EEE95ACF-6873-4445-914E-2C4FE1927869}" type="datetimeFigureOut">
              <a:rPr lang="en-US" smtClean="0"/>
              <a:pPr/>
              <a:t>3/4/2026</a:t>
            </a:fld>
            <a:endParaRPr lang="en-US"/>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F824DAA8-79B9-45B9-A4DA-8D16D940B6A5}"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371600" y="3886200"/>
            <a:ext cx="7058052" cy="1752600"/>
          </a:xfrm>
        </p:spPr>
        <p:txBody>
          <a:bodyPr>
            <a:normAutofit/>
          </a:bodyPr>
          <a:lstStyle/>
          <a:p>
            <a:r>
              <a:rPr lang="en-IN" sz="2400" b="1" dirty="0" smtClean="0">
                <a:solidFill>
                  <a:schemeClr val="tx1"/>
                </a:solidFill>
                <a:latin typeface="Times New Roman" pitchFamily="18" charset="0"/>
                <a:cs typeface="Times New Roman" pitchFamily="18" charset="0"/>
              </a:rPr>
              <a:t>                                                         PRESENTED BY</a:t>
            </a:r>
          </a:p>
          <a:p>
            <a:r>
              <a:rPr lang="en-IN" sz="2400" b="1" dirty="0">
                <a:solidFill>
                  <a:schemeClr val="tx1"/>
                </a:solidFill>
                <a:latin typeface="Times New Roman" pitchFamily="18" charset="0"/>
                <a:cs typeface="Times New Roman" pitchFamily="18" charset="0"/>
              </a:rPr>
              <a:t> </a:t>
            </a:r>
            <a:r>
              <a:rPr lang="en-IN" sz="2400" b="1" dirty="0" smtClean="0">
                <a:solidFill>
                  <a:schemeClr val="tx1"/>
                </a:solidFill>
                <a:latin typeface="Times New Roman" pitchFamily="18" charset="0"/>
                <a:cs typeface="Times New Roman" pitchFamily="18" charset="0"/>
              </a:rPr>
              <a:t>                                                 YUVASRI D</a:t>
            </a:r>
            <a:endParaRPr lang="en-US" sz="2400" b="1" dirty="0">
              <a:solidFill>
                <a:schemeClr val="tx1"/>
              </a:solidFill>
              <a:latin typeface="Times New Roman" pitchFamily="18" charset="0"/>
              <a:cs typeface="Times New Roman" pitchFamily="18" charset="0"/>
            </a:endParaRPr>
          </a:p>
        </p:txBody>
      </p:sp>
      <p:sp>
        <p:nvSpPr>
          <p:cNvPr id="2" name="Title 1"/>
          <p:cNvSpPr>
            <a:spLocks noGrp="1"/>
          </p:cNvSpPr>
          <p:nvPr>
            <p:ph type="ctrTitle"/>
          </p:nvPr>
        </p:nvSpPr>
        <p:spPr/>
        <p:txBody>
          <a:bodyPr>
            <a:normAutofit/>
          </a:bodyPr>
          <a:lstStyle/>
          <a:p>
            <a:r>
              <a:rPr lang="en-IN" sz="4000" b="1" dirty="0" smtClean="0">
                <a:solidFill>
                  <a:schemeClr val="accent6">
                    <a:lumMod val="75000"/>
                  </a:schemeClr>
                </a:solidFill>
                <a:effectLst>
                  <a:outerShdw blurRad="38100" dist="38100" dir="2700000" algn="tl">
                    <a:srgbClr val="000000">
                      <a:alpha val="43137"/>
                    </a:srgbClr>
                  </a:outerShdw>
                </a:effectLst>
                <a:latin typeface="Times New Roman" pitchFamily="18" charset="0"/>
                <a:cs typeface="Times New Roman" pitchFamily="18" charset="0"/>
              </a:rPr>
              <a:t>RAPIDO RIDE PERFORMANCE</a:t>
            </a:r>
            <a:endParaRPr lang="en-US" sz="4000" b="1" dirty="0">
              <a:solidFill>
                <a:schemeClr val="accent6">
                  <a:lumMod val="75000"/>
                </a:schemeClr>
              </a:solidFill>
              <a:effectLst>
                <a:outerShdw blurRad="38100" dist="38100" dir="2700000" algn="tl">
                  <a:srgbClr val="000000">
                    <a:alpha val="43137"/>
                  </a:srgbClr>
                </a:outerShdw>
              </a:effectLst>
              <a:latin typeface="Times New Roman" pitchFamily="18" charset="0"/>
              <a:cs typeface="Times New Roman" pitchFamily="18" charset="0"/>
            </a:endParaRPr>
          </a:p>
        </p:txBody>
      </p:sp>
    </p:spTree>
  </p:cSld>
  <p:clrMapOvr>
    <a:masterClrMapping/>
  </p:clrMapOvr>
  <p:transition>
    <p:dissolv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smtClean="0">
                <a:solidFill>
                  <a:srgbClr val="FF6600"/>
                </a:solidFill>
                <a:latin typeface="Times New Roman" pitchFamily="18" charset="0"/>
                <a:cs typeface="Times New Roman" pitchFamily="18" charset="0"/>
              </a:rPr>
              <a:t>INTRODUCTION</a:t>
            </a:r>
            <a:endParaRPr lang="en-US" sz="3200" b="1" dirty="0">
              <a:solidFill>
                <a:srgbClr val="FF6600"/>
              </a:solidFill>
              <a:latin typeface="Times New Roman" pitchFamily="18" charset="0"/>
              <a:cs typeface="Times New Roman" pitchFamily="18" charset="0"/>
            </a:endParaRPr>
          </a:p>
        </p:txBody>
      </p:sp>
      <p:sp>
        <p:nvSpPr>
          <p:cNvPr id="3" name="Content Placeholder 2"/>
          <p:cNvSpPr>
            <a:spLocks noGrp="1"/>
          </p:cNvSpPr>
          <p:nvPr>
            <p:ph sz="quarter" idx="1"/>
          </p:nvPr>
        </p:nvSpPr>
        <p:spPr/>
        <p:txBody>
          <a:bodyPr>
            <a:normAutofit/>
          </a:bodyPr>
          <a:lstStyle/>
          <a:p>
            <a:pPr algn="just">
              <a:lnSpc>
                <a:spcPct val="150000"/>
              </a:lnSpc>
            </a:pPr>
            <a:r>
              <a:rPr lang="en-US" sz="2000" dirty="0" err="1" smtClean="0">
                <a:latin typeface="Times New Roman" pitchFamily="18" charset="0"/>
                <a:cs typeface="Times New Roman" pitchFamily="18" charset="0"/>
              </a:rPr>
              <a:t>Rapido</a:t>
            </a:r>
            <a:r>
              <a:rPr lang="en-US" sz="2000" dirty="0" smtClean="0">
                <a:latin typeface="Times New Roman" pitchFamily="18" charset="0"/>
                <a:cs typeface="Times New Roman" pitchFamily="18" charset="0"/>
              </a:rPr>
              <a:t> is a rapidly growing ride-sharing platform that generates a large volume of operational data every day, including ride details, revenue, service usage, and payment information. Analyzing this data is essential to understand ride demand patterns, service performance, revenue trends, and operational efficiency.</a:t>
            </a:r>
          </a:p>
          <a:p>
            <a:pPr algn="just">
              <a:lnSpc>
                <a:spcPct val="150000"/>
              </a:lnSpc>
            </a:pPr>
            <a:r>
              <a:rPr lang="en-US" sz="2000" dirty="0" smtClean="0">
                <a:latin typeface="Times New Roman" pitchFamily="18" charset="0"/>
                <a:cs typeface="Times New Roman" pitchFamily="18" charset="0"/>
              </a:rPr>
              <a:t>Power BI is a powerful business intelligence and data visualization tool that converts raw data into interactive dashboards and insightful reports. It enables users to monitor key performance indicators (KPIs), identify trends, and make data-driven business decisions efficiently.</a:t>
            </a:r>
            <a:endParaRPr lang="en-US" sz="2000" dirty="0">
              <a:latin typeface="Times New Roman" pitchFamily="18" charset="0"/>
              <a:cs typeface="Times New Roman"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smtClean="0">
                <a:solidFill>
                  <a:srgbClr val="FF6600"/>
                </a:solidFill>
                <a:latin typeface="Times New Roman" pitchFamily="18" charset="0"/>
                <a:cs typeface="Times New Roman" pitchFamily="18" charset="0"/>
              </a:rPr>
              <a:t>PROBLEM STATEMENT</a:t>
            </a:r>
            <a:endParaRPr lang="en-US" sz="3200" b="1" dirty="0">
              <a:solidFill>
                <a:srgbClr val="FF6600"/>
              </a:solidFill>
              <a:latin typeface="Times New Roman" pitchFamily="18" charset="0"/>
              <a:cs typeface="Times New Roman" pitchFamily="18" charset="0"/>
            </a:endParaRPr>
          </a:p>
        </p:txBody>
      </p:sp>
      <p:sp>
        <p:nvSpPr>
          <p:cNvPr id="3" name="Content Placeholder 2"/>
          <p:cNvSpPr>
            <a:spLocks noGrp="1"/>
          </p:cNvSpPr>
          <p:nvPr>
            <p:ph sz="quarter" idx="1"/>
          </p:nvPr>
        </p:nvSpPr>
        <p:spPr/>
        <p:txBody>
          <a:bodyPr>
            <a:normAutofit/>
          </a:bodyPr>
          <a:lstStyle/>
          <a:p>
            <a:pPr algn="just">
              <a:lnSpc>
                <a:spcPct val="150000"/>
              </a:lnSpc>
            </a:pPr>
            <a:r>
              <a:rPr lang="en-US" sz="2000" dirty="0" err="1" smtClean="0">
                <a:latin typeface="Times New Roman" pitchFamily="18" charset="0"/>
                <a:cs typeface="Times New Roman" pitchFamily="18" charset="0"/>
              </a:rPr>
              <a:t>Rapido</a:t>
            </a:r>
            <a:r>
              <a:rPr lang="en-US" sz="2000" dirty="0" smtClean="0">
                <a:latin typeface="Times New Roman" pitchFamily="18" charset="0"/>
                <a:cs typeface="Times New Roman" pitchFamily="18" charset="0"/>
              </a:rPr>
              <a:t> ride data is large and operationally complex, making it difficult to monitor ride performance, revenue trends, service efficiency, and cancellation behavior using traditional spreadsheet analysis methods.</a:t>
            </a:r>
          </a:p>
          <a:p>
            <a:pPr algn="just">
              <a:lnSpc>
                <a:spcPct val="150000"/>
              </a:lnSpc>
            </a:pPr>
            <a:r>
              <a:rPr lang="en-US" sz="2000" dirty="0" smtClean="0">
                <a:latin typeface="Times New Roman" pitchFamily="18" charset="0"/>
                <a:cs typeface="Times New Roman" pitchFamily="18" charset="0"/>
              </a:rPr>
              <a:t>Due to the absence of centralized analytics, management may struggle to make informed decisions regarding pricing strategy, service optimization, and performance improvement.</a:t>
            </a:r>
          </a:p>
          <a:p>
            <a:pPr algn="just">
              <a:lnSpc>
                <a:spcPct val="150000"/>
              </a:lnSpc>
            </a:pPr>
            <a:r>
              <a:rPr lang="en-US" sz="2000" dirty="0" smtClean="0">
                <a:latin typeface="Times New Roman" pitchFamily="18" charset="0"/>
                <a:cs typeface="Times New Roman" pitchFamily="18" charset="0"/>
              </a:rPr>
              <a:t>This project aims to address these challenges by developing a </a:t>
            </a:r>
            <a:r>
              <a:rPr lang="en-US" sz="2000" b="1" dirty="0" err="1" smtClean="0">
                <a:latin typeface="Times New Roman" pitchFamily="18" charset="0"/>
                <a:cs typeface="Times New Roman" pitchFamily="18" charset="0"/>
              </a:rPr>
              <a:t>Rapido</a:t>
            </a:r>
            <a:r>
              <a:rPr lang="en-US" sz="2000" b="1" dirty="0" smtClean="0">
                <a:latin typeface="Times New Roman" pitchFamily="18" charset="0"/>
                <a:cs typeface="Times New Roman" pitchFamily="18" charset="0"/>
              </a:rPr>
              <a:t> Riders Analytics Dashboard using Power BI</a:t>
            </a:r>
            <a:r>
              <a:rPr lang="en-IN" sz="2000" b="1" dirty="0" smtClean="0">
                <a:latin typeface="Times New Roman" pitchFamily="18" charset="0"/>
                <a:cs typeface="Times New Roman" pitchFamily="18" charset="0"/>
              </a:rPr>
              <a:t> .</a:t>
            </a:r>
            <a:endParaRPr lang="en-US" sz="2000" b="1" dirty="0" smtClean="0">
              <a:latin typeface="Times New Roman" pitchFamily="18" charset="0"/>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smtClean="0">
                <a:solidFill>
                  <a:srgbClr val="FF6600"/>
                </a:solidFill>
                <a:latin typeface="Times New Roman" pitchFamily="18" charset="0"/>
                <a:cs typeface="Times New Roman" pitchFamily="18" charset="0"/>
              </a:rPr>
              <a:t>BUSINESS PROBLEM</a:t>
            </a:r>
            <a:endParaRPr lang="en-US" sz="3200" b="1" dirty="0">
              <a:solidFill>
                <a:srgbClr val="FF6600"/>
              </a:solidFill>
              <a:latin typeface="Times New Roman" pitchFamily="18" charset="0"/>
              <a:cs typeface="Times New Roman" pitchFamily="18" charset="0"/>
            </a:endParaRPr>
          </a:p>
        </p:txBody>
      </p:sp>
      <p:sp>
        <p:nvSpPr>
          <p:cNvPr id="3" name="Content Placeholder 2"/>
          <p:cNvSpPr>
            <a:spLocks noGrp="1"/>
          </p:cNvSpPr>
          <p:nvPr>
            <p:ph sz="quarter" idx="1"/>
          </p:nvPr>
        </p:nvSpPr>
        <p:spPr>
          <a:xfrm>
            <a:off x="914400" y="1447800"/>
            <a:ext cx="7772400" cy="5053034"/>
          </a:xfrm>
        </p:spPr>
        <p:txBody>
          <a:bodyPr>
            <a:noAutofit/>
          </a:bodyPr>
          <a:lstStyle/>
          <a:p>
            <a:pPr>
              <a:lnSpc>
                <a:spcPct val="150000"/>
              </a:lnSpc>
            </a:pPr>
            <a:r>
              <a:rPr lang="en-US" sz="1900" dirty="0" smtClean="0">
                <a:latin typeface="Times New Roman" pitchFamily="18" charset="0"/>
                <a:cs typeface="Times New Roman" pitchFamily="18" charset="0"/>
              </a:rPr>
              <a:t>How is overall ride demand trending over time?</a:t>
            </a:r>
          </a:p>
          <a:p>
            <a:pPr>
              <a:lnSpc>
                <a:spcPct val="150000"/>
              </a:lnSpc>
            </a:pPr>
            <a:r>
              <a:rPr lang="en-US" sz="1900" dirty="0" smtClean="0">
                <a:latin typeface="Times New Roman" pitchFamily="18" charset="0"/>
                <a:cs typeface="Times New Roman" pitchFamily="18" charset="0"/>
              </a:rPr>
              <a:t>Which service types (Auto, Bike, Cab Economy, Parcel) are generating the highest revenue?</a:t>
            </a:r>
          </a:p>
          <a:p>
            <a:pPr>
              <a:lnSpc>
                <a:spcPct val="150000"/>
              </a:lnSpc>
            </a:pPr>
            <a:r>
              <a:rPr lang="en-US" sz="1900" dirty="0" smtClean="0">
                <a:latin typeface="Times New Roman" pitchFamily="18" charset="0"/>
                <a:cs typeface="Times New Roman" pitchFamily="18" charset="0"/>
              </a:rPr>
              <a:t>What is the current cancellation rate, and how is it impacting profitability?</a:t>
            </a:r>
          </a:p>
          <a:p>
            <a:pPr>
              <a:lnSpc>
                <a:spcPct val="150000"/>
              </a:lnSpc>
            </a:pPr>
            <a:r>
              <a:rPr lang="en-US" sz="1900" dirty="0" smtClean="0">
                <a:latin typeface="Times New Roman" pitchFamily="18" charset="0"/>
                <a:cs typeface="Times New Roman" pitchFamily="18" charset="0"/>
              </a:rPr>
              <a:t>Are there identifiable peak demand periods that require better driver allocation?</a:t>
            </a:r>
          </a:p>
          <a:p>
            <a:pPr>
              <a:lnSpc>
                <a:spcPct val="150000"/>
              </a:lnSpc>
            </a:pPr>
            <a:r>
              <a:rPr lang="en-US" sz="1900" dirty="0" smtClean="0">
                <a:latin typeface="Times New Roman" pitchFamily="18" charset="0"/>
                <a:cs typeface="Times New Roman" pitchFamily="18" charset="0"/>
              </a:rPr>
              <a:t>How efficient are rides in terms of duration, speed, and fare per KM?</a:t>
            </a:r>
          </a:p>
          <a:p>
            <a:pPr>
              <a:lnSpc>
                <a:spcPct val="150000"/>
              </a:lnSpc>
            </a:pPr>
            <a:r>
              <a:rPr lang="en-US" sz="1900" dirty="0" smtClean="0">
                <a:latin typeface="Times New Roman" pitchFamily="18" charset="0"/>
                <a:cs typeface="Times New Roman" pitchFamily="18" charset="0"/>
              </a:rPr>
              <a:t>Which routes contribute most to total revenue?</a:t>
            </a:r>
          </a:p>
          <a:p>
            <a:pPr>
              <a:lnSpc>
                <a:spcPct val="150000"/>
              </a:lnSpc>
            </a:pPr>
            <a:r>
              <a:rPr lang="en-US" sz="1900" dirty="0" smtClean="0">
                <a:latin typeface="Times New Roman" pitchFamily="18" charset="0"/>
                <a:cs typeface="Times New Roman" pitchFamily="18" charset="0"/>
              </a:rPr>
              <a:t>What payment methods do customers prefer, and how does it impact operations?</a:t>
            </a:r>
          </a:p>
          <a:p>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smtClean="0">
                <a:solidFill>
                  <a:srgbClr val="FF6600"/>
                </a:solidFill>
                <a:latin typeface="Times New Roman" pitchFamily="18" charset="0"/>
                <a:cs typeface="Times New Roman" pitchFamily="18" charset="0"/>
              </a:rPr>
              <a:t>DATA OVERVIEW</a:t>
            </a:r>
            <a:endParaRPr lang="en-US" sz="3200" b="1" dirty="0">
              <a:solidFill>
                <a:srgbClr val="FF6600"/>
              </a:solidFill>
              <a:latin typeface="Times New Roman" pitchFamily="18" charset="0"/>
              <a:cs typeface="Times New Roman" pitchFamily="18" charset="0"/>
            </a:endParaRPr>
          </a:p>
        </p:txBody>
      </p:sp>
      <p:sp>
        <p:nvSpPr>
          <p:cNvPr id="3" name="Content Placeholder 2"/>
          <p:cNvSpPr>
            <a:spLocks noGrp="1"/>
          </p:cNvSpPr>
          <p:nvPr>
            <p:ph sz="quarter" idx="1"/>
          </p:nvPr>
        </p:nvSpPr>
        <p:spPr/>
        <p:txBody>
          <a:bodyPr>
            <a:normAutofit/>
          </a:bodyPr>
          <a:lstStyle/>
          <a:p>
            <a:r>
              <a:rPr lang="en-US" sz="2200" dirty="0" smtClean="0"/>
              <a:t>services (Auto, Bike, Cab Economy, Parcel)</a:t>
            </a:r>
          </a:p>
          <a:p>
            <a:r>
              <a:rPr lang="en-US" sz="2200" dirty="0" smtClean="0"/>
              <a:t>date</a:t>
            </a:r>
          </a:p>
          <a:p>
            <a:r>
              <a:rPr lang="en-US" sz="2200" dirty="0" smtClean="0"/>
              <a:t>ride status</a:t>
            </a:r>
          </a:p>
          <a:p>
            <a:r>
              <a:rPr lang="en-US" sz="2200" dirty="0" smtClean="0"/>
              <a:t>source &amp; destination</a:t>
            </a:r>
          </a:p>
          <a:p>
            <a:r>
              <a:rPr lang="en-US" sz="2200" dirty="0" smtClean="0"/>
              <a:t>duration</a:t>
            </a:r>
          </a:p>
          <a:p>
            <a:r>
              <a:rPr lang="en-US" sz="2200" dirty="0" smtClean="0"/>
              <a:t>ride id</a:t>
            </a:r>
          </a:p>
          <a:p>
            <a:r>
              <a:rPr lang="en-US" sz="2200" dirty="0" smtClean="0"/>
              <a:t>distance</a:t>
            </a:r>
          </a:p>
          <a:p>
            <a:r>
              <a:rPr lang="en-US" sz="2200" dirty="0" smtClean="0"/>
              <a:t>ride charge</a:t>
            </a:r>
          </a:p>
          <a:p>
            <a:r>
              <a:rPr lang="en-US" sz="2200" dirty="0" smtClean="0"/>
              <a:t>misc charge</a:t>
            </a:r>
          </a:p>
          <a:p>
            <a:r>
              <a:rPr lang="en-US" sz="2200" dirty="0" smtClean="0"/>
              <a:t>total fare</a:t>
            </a:r>
          </a:p>
          <a:p>
            <a:r>
              <a:rPr lang="en-US" sz="2000" dirty="0" smtClean="0"/>
              <a:t>payment method</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smtClean="0">
                <a:solidFill>
                  <a:srgbClr val="FF6600"/>
                </a:solidFill>
                <a:latin typeface="Times New Roman" pitchFamily="18" charset="0"/>
                <a:cs typeface="Times New Roman" pitchFamily="18" charset="0"/>
              </a:rPr>
              <a:t>TECHNOLOGY USED</a:t>
            </a:r>
            <a:endParaRPr lang="en-US" sz="3200" b="1" dirty="0">
              <a:solidFill>
                <a:srgbClr val="FF6600"/>
              </a:solidFill>
              <a:latin typeface="Times New Roman" pitchFamily="18" charset="0"/>
              <a:cs typeface="Times New Roman" pitchFamily="18" charset="0"/>
            </a:endParaRPr>
          </a:p>
        </p:txBody>
      </p:sp>
      <p:sp>
        <p:nvSpPr>
          <p:cNvPr id="3" name="Content Placeholder 2"/>
          <p:cNvSpPr>
            <a:spLocks noGrp="1"/>
          </p:cNvSpPr>
          <p:nvPr>
            <p:ph sz="quarter" idx="1"/>
          </p:nvPr>
        </p:nvSpPr>
        <p:spPr/>
        <p:txBody>
          <a:bodyPr>
            <a:normAutofit/>
          </a:bodyPr>
          <a:lstStyle/>
          <a:p>
            <a:pPr>
              <a:lnSpc>
                <a:spcPct val="150000"/>
              </a:lnSpc>
            </a:pPr>
            <a:r>
              <a:rPr lang="en-US" sz="2400" b="1" dirty="0" smtClean="0">
                <a:latin typeface="Times New Roman" pitchFamily="18" charset="0"/>
                <a:cs typeface="Times New Roman" pitchFamily="18" charset="0"/>
              </a:rPr>
              <a:t>Microsoft Excel</a:t>
            </a:r>
            <a:r>
              <a:rPr lang="en-US" sz="2400" dirty="0" smtClean="0">
                <a:latin typeface="Times New Roman" pitchFamily="18" charset="0"/>
                <a:cs typeface="Times New Roman" pitchFamily="18" charset="0"/>
              </a:rPr>
              <a:t> – Data source (ride dataset)</a:t>
            </a:r>
          </a:p>
          <a:p>
            <a:pPr>
              <a:lnSpc>
                <a:spcPct val="150000"/>
              </a:lnSpc>
            </a:pPr>
            <a:r>
              <a:rPr lang="en-US" sz="2400" b="1" dirty="0" smtClean="0">
                <a:latin typeface="Times New Roman" pitchFamily="18" charset="0"/>
                <a:cs typeface="Times New Roman" pitchFamily="18" charset="0"/>
              </a:rPr>
              <a:t>Power BI Desktop</a:t>
            </a:r>
            <a:r>
              <a:rPr lang="en-US" sz="2400" dirty="0" smtClean="0">
                <a:latin typeface="Times New Roman" pitchFamily="18" charset="0"/>
                <a:cs typeface="Times New Roman" pitchFamily="18" charset="0"/>
              </a:rPr>
              <a:t> – Dashboard creation</a:t>
            </a:r>
          </a:p>
          <a:p>
            <a:pPr>
              <a:lnSpc>
                <a:spcPct val="150000"/>
              </a:lnSpc>
            </a:pPr>
            <a:r>
              <a:rPr lang="en-US" sz="2400" b="1" dirty="0" smtClean="0">
                <a:latin typeface="Times New Roman" pitchFamily="18" charset="0"/>
                <a:cs typeface="Times New Roman" pitchFamily="18" charset="0"/>
              </a:rPr>
              <a:t>Power Query</a:t>
            </a:r>
            <a:r>
              <a:rPr lang="en-US" sz="2400" dirty="0" smtClean="0">
                <a:latin typeface="Times New Roman" pitchFamily="18" charset="0"/>
                <a:cs typeface="Times New Roman" pitchFamily="18" charset="0"/>
              </a:rPr>
              <a:t> – Data cleaning &amp; transformation</a:t>
            </a:r>
          </a:p>
          <a:p>
            <a:pPr>
              <a:lnSpc>
                <a:spcPct val="150000"/>
              </a:lnSpc>
            </a:pPr>
            <a:r>
              <a:rPr lang="en-US" sz="2400" b="1" dirty="0" smtClean="0">
                <a:latin typeface="Times New Roman" pitchFamily="18" charset="0"/>
                <a:cs typeface="Times New Roman" pitchFamily="18" charset="0"/>
              </a:rPr>
              <a:t>DAX (Data Analysis Expressions)</a:t>
            </a:r>
            <a:r>
              <a:rPr lang="en-US" sz="2400" dirty="0" smtClean="0">
                <a:latin typeface="Times New Roman" pitchFamily="18" charset="0"/>
                <a:cs typeface="Times New Roman" pitchFamily="18" charset="0"/>
              </a:rPr>
              <a:t> – KPI and measure calculations</a:t>
            </a:r>
          </a:p>
          <a:p>
            <a:pPr>
              <a:lnSpc>
                <a:spcPct val="150000"/>
              </a:lnSpc>
            </a:pPr>
            <a:r>
              <a:rPr lang="en-US" sz="2400" b="1" dirty="0" smtClean="0">
                <a:latin typeface="Times New Roman" pitchFamily="18" charset="0"/>
                <a:cs typeface="Times New Roman" pitchFamily="18" charset="0"/>
              </a:rPr>
              <a:t>Power BI Visualizations</a:t>
            </a:r>
            <a:r>
              <a:rPr lang="en-US" sz="2400" dirty="0" smtClean="0">
                <a:latin typeface="Times New Roman" pitchFamily="18" charset="0"/>
                <a:cs typeface="Times New Roman" pitchFamily="18" charset="0"/>
              </a:rPr>
              <a:t> – Charts, Cards, and Slicers for analysis</a:t>
            </a:r>
          </a:p>
          <a:p>
            <a:pPr>
              <a:lnSpc>
                <a:spcPct val="150000"/>
              </a:lnSpc>
            </a:pPr>
            <a:endParaRPr lang="en-US" sz="2400" dirty="0">
              <a:latin typeface="Times New Roman" pitchFamily="18" charset="0"/>
              <a:cs typeface="Times New Roman"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smtClean="0">
                <a:solidFill>
                  <a:srgbClr val="FF6600"/>
                </a:solidFill>
                <a:latin typeface="Times New Roman" pitchFamily="18" charset="0"/>
                <a:cs typeface="Times New Roman" pitchFamily="18" charset="0"/>
              </a:rPr>
              <a:t>DATA PREPROCESSING</a:t>
            </a:r>
            <a:endParaRPr lang="en-US" sz="3200" b="1" dirty="0">
              <a:solidFill>
                <a:srgbClr val="FF6600"/>
              </a:solidFill>
              <a:latin typeface="Times New Roman" pitchFamily="18" charset="0"/>
              <a:cs typeface="Times New Roman" pitchFamily="18" charset="0"/>
            </a:endParaRPr>
          </a:p>
        </p:txBody>
      </p:sp>
      <p:sp>
        <p:nvSpPr>
          <p:cNvPr id="3" name="Content Placeholder 2"/>
          <p:cNvSpPr>
            <a:spLocks noGrp="1"/>
          </p:cNvSpPr>
          <p:nvPr>
            <p:ph sz="quarter" idx="1"/>
          </p:nvPr>
        </p:nvSpPr>
        <p:spPr/>
        <p:txBody>
          <a:bodyPr>
            <a:normAutofit fontScale="92500"/>
          </a:bodyPr>
          <a:lstStyle/>
          <a:p>
            <a:pPr>
              <a:lnSpc>
                <a:spcPct val="150000"/>
              </a:lnSpc>
            </a:pPr>
            <a:r>
              <a:rPr lang="en-US" sz="2400" dirty="0" smtClean="0">
                <a:latin typeface="Times New Roman" pitchFamily="18" charset="0"/>
                <a:cs typeface="Times New Roman" pitchFamily="18" charset="0"/>
              </a:rPr>
              <a:t>Changed data types (Date, Number, Text) correctly.</a:t>
            </a:r>
          </a:p>
          <a:p>
            <a:pPr>
              <a:lnSpc>
                <a:spcPct val="150000"/>
              </a:lnSpc>
            </a:pPr>
            <a:r>
              <a:rPr lang="en-US" sz="2400" dirty="0" smtClean="0">
                <a:latin typeface="Times New Roman" pitchFamily="18" charset="0"/>
                <a:cs typeface="Times New Roman" pitchFamily="18" charset="0"/>
              </a:rPr>
              <a:t>Removed duplicate records using </a:t>
            </a:r>
            <a:r>
              <a:rPr lang="en-US" sz="2400" b="1" dirty="0" smtClean="0">
                <a:latin typeface="Times New Roman" pitchFamily="18" charset="0"/>
                <a:cs typeface="Times New Roman" pitchFamily="18" charset="0"/>
              </a:rPr>
              <a:t>ride_id</a:t>
            </a:r>
            <a:r>
              <a:rPr lang="en-US" sz="2400" dirty="0" smtClean="0">
                <a:latin typeface="Times New Roman" pitchFamily="18" charset="0"/>
                <a:cs typeface="Times New Roman" pitchFamily="18" charset="0"/>
              </a:rPr>
              <a:t>.</a:t>
            </a:r>
          </a:p>
          <a:p>
            <a:pPr>
              <a:lnSpc>
                <a:spcPct val="150000"/>
              </a:lnSpc>
            </a:pPr>
            <a:r>
              <a:rPr lang="en-US" sz="2400" dirty="0" smtClean="0">
                <a:latin typeface="Times New Roman" pitchFamily="18" charset="0"/>
                <a:cs typeface="Times New Roman" pitchFamily="18" charset="0"/>
              </a:rPr>
              <a:t>Handled missing (null) values in fare, distance, and payment columns.</a:t>
            </a:r>
          </a:p>
          <a:p>
            <a:pPr>
              <a:lnSpc>
                <a:spcPct val="150000"/>
              </a:lnSpc>
            </a:pPr>
            <a:r>
              <a:rPr lang="en-US" sz="2400" dirty="0" smtClean="0">
                <a:latin typeface="Times New Roman" pitchFamily="18" charset="0"/>
                <a:cs typeface="Times New Roman" pitchFamily="18" charset="0"/>
              </a:rPr>
              <a:t>Standardized service names (Auto, Bike, Cab Economy, Parcel).</a:t>
            </a:r>
          </a:p>
          <a:p>
            <a:pPr>
              <a:lnSpc>
                <a:spcPct val="150000"/>
              </a:lnSpc>
            </a:pPr>
            <a:r>
              <a:rPr lang="en-US" sz="2400" dirty="0" smtClean="0">
                <a:latin typeface="Times New Roman" pitchFamily="18" charset="0"/>
                <a:cs typeface="Times New Roman" pitchFamily="18" charset="0"/>
              </a:rPr>
              <a:t>Trimmed unwanted spaces in text columns.</a:t>
            </a:r>
          </a:p>
          <a:p>
            <a:pPr>
              <a:lnSpc>
                <a:spcPct val="150000"/>
              </a:lnSpc>
            </a:pPr>
            <a:r>
              <a:rPr lang="en-US" sz="2400" dirty="0" smtClean="0">
                <a:latin typeface="Times New Roman" pitchFamily="18" charset="0"/>
                <a:cs typeface="Times New Roman" pitchFamily="18" charset="0"/>
              </a:rPr>
              <a:t>Converted and validated the date column format.</a:t>
            </a:r>
          </a:p>
          <a:p>
            <a:pPr>
              <a:lnSpc>
                <a:spcPct val="150000"/>
              </a:lnSpc>
            </a:pPr>
            <a:r>
              <a:rPr lang="en-US" sz="2400" dirty="0" smtClean="0">
                <a:latin typeface="Times New Roman" pitchFamily="18" charset="0"/>
                <a:cs typeface="Times New Roman" pitchFamily="18" charset="0"/>
              </a:rPr>
              <a:t>Created necessary calculated columns for analysis.</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smtClean="0">
                <a:solidFill>
                  <a:srgbClr val="FF6600"/>
                </a:solidFill>
                <a:latin typeface="Times New Roman" pitchFamily="18" charset="0"/>
                <a:cs typeface="Times New Roman" pitchFamily="18" charset="0"/>
              </a:rPr>
              <a:t>KEY METRICS AND KPI’S</a:t>
            </a:r>
            <a:endParaRPr lang="en-US" sz="3200" b="1" dirty="0">
              <a:solidFill>
                <a:srgbClr val="FF6600"/>
              </a:solidFill>
              <a:latin typeface="Times New Roman" pitchFamily="18" charset="0"/>
              <a:cs typeface="Times New Roman" pitchFamily="18" charset="0"/>
            </a:endParaRPr>
          </a:p>
        </p:txBody>
      </p:sp>
      <p:sp>
        <p:nvSpPr>
          <p:cNvPr id="3" name="Content Placeholder 2"/>
          <p:cNvSpPr>
            <a:spLocks noGrp="1"/>
          </p:cNvSpPr>
          <p:nvPr>
            <p:ph sz="quarter" idx="1"/>
          </p:nvPr>
        </p:nvSpPr>
        <p:spPr/>
        <p:txBody>
          <a:bodyPr>
            <a:normAutofit/>
          </a:bodyPr>
          <a:lstStyle/>
          <a:p>
            <a:pPr>
              <a:lnSpc>
                <a:spcPct val="150000"/>
              </a:lnSpc>
            </a:pPr>
            <a:r>
              <a:rPr lang="en-US" sz="2000" b="1" dirty="0" smtClean="0">
                <a:latin typeface="Times New Roman" pitchFamily="18" charset="0"/>
                <a:cs typeface="Times New Roman" pitchFamily="18" charset="0"/>
              </a:rPr>
              <a:t>Total Rides:</a:t>
            </a:r>
            <a:r>
              <a:rPr lang="en-US" sz="2000" dirty="0" smtClean="0">
                <a:latin typeface="Times New Roman" pitchFamily="18" charset="0"/>
                <a:cs typeface="Times New Roman" pitchFamily="18" charset="0"/>
              </a:rPr>
              <a:t> Total number of rides completed during a specific period.</a:t>
            </a:r>
          </a:p>
          <a:p>
            <a:pPr>
              <a:lnSpc>
                <a:spcPct val="150000"/>
              </a:lnSpc>
            </a:pPr>
            <a:r>
              <a:rPr lang="en-US" sz="2000" b="1" dirty="0" smtClean="0">
                <a:latin typeface="Times New Roman" pitchFamily="18" charset="0"/>
                <a:cs typeface="Times New Roman" pitchFamily="18" charset="0"/>
              </a:rPr>
              <a:t>Total Revenue:</a:t>
            </a:r>
            <a:r>
              <a:rPr lang="en-US" sz="2000" dirty="0" smtClean="0">
                <a:latin typeface="Times New Roman" pitchFamily="18" charset="0"/>
                <a:cs typeface="Times New Roman" pitchFamily="18" charset="0"/>
              </a:rPr>
              <a:t> Total income generated from all completed rides.</a:t>
            </a:r>
          </a:p>
          <a:p>
            <a:pPr>
              <a:lnSpc>
                <a:spcPct val="150000"/>
              </a:lnSpc>
            </a:pPr>
            <a:r>
              <a:rPr lang="en-US" sz="2000" b="1" dirty="0" smtClean="0">
                <a:latin typeface="Times New Roman" pitchFamily="18" charset="0"/>
                <a:cs typeface="Times New Roman" pitchFamily="18" charset="0"/>
              </a:rPr>
              <a:t>Completion Rate:</a:t>
            </a:r>
            <a:r>
              <a:rPr lang="en-US" sz="2000" dirty="0" smtClean="0">
                <a:latin typeface="Times New Roman" pitchFamily="18" charset="0"/>
                <a:cs typeface="Times New Roman" pitchFamily="18" charset="0"/>
              </a:rPr>
              <a:t> Percentage of rides successfully completed out of total rides, indicating overall operational efficiency and service reliability.</a:t>
            </a:r>
            <a:endParaRPr lang="en-US" sz="2000" dirty="0">
              <a:latin typeface="Times New Roman" pitchFamily="18" charset="0"/>
              <a:cs typeface="Times New Roman" pitchFamily="18" charset="0"/>
            </a:endParaRPr>
          </a:p>
        </p:txBody>
      </p:sp>
      <p:pic>
        <p:nvPicPr>
          <p:cNvPr id="4" name="Picture 3" descr="Screenshot 2026-03-03 195256.png"/>
          <p:cNvPicPr>
            <a:picLocks noChangeAspect="1"/>
          </p:cNvPicPr>
          <p:nvPr/>
        </p:nvPicPr>
        <p:blipFill>
          <a:blip r:embed="rId2"/>
          <a:stretch>
            <a:fillRect/>
          </a:stretch>
        </p:blipFill>
        <p:spPr>
          <a:xfrm>
            <a:off x="1857356" y="4714884"/>
            <a:ext cx="5286412" cy="135732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smtClean="0">
                <a:solidFill>
                  <a:srgbClr val="FF6600"/>
                </a:solidFill>
                <a:latin typeface="Times New Roman" pitchFamily="18" charset="0"/>
                <a:cs typeface="Times New Roman" pitchFamily="18" charset="0"/>
              </a:rPr>
              <a:t>DATA MODELING- OVERVIEW</a:t>
            </a:r>
            <a:endParaRPr lang="en-US" sz="3200" b="1" dirty="0">
              <a:solidFill>
                <a:srgbClr val="FF6600"/>
              </a:solidFill>
              <a:latin typeface="Times New Roman" pitchFamily="18" charset="0"/>
              <a:cs typeface="Times New Roman" pitchFamily="18" charset="0"/>
            </a:endParaRPr>
          </a:p>
        </p:txBody>
      </p:sp>
      <p:pic>
        <p:nvPicPr>
          <p:cNvPr id="4" name="Content Placeholder 3" descr="Screenshot 2026-03-03 195811.png"/>
          <p:cNvPicPr>
            <a:picLocks noGrp="1" noChangeAspect="1"/>
          </p:cNvPicPr>
          <p:nvPr>
            <p:ph sz="quarter" idx="1"/>
          </p:nvPr>
        </p:nvPicPr>
        <p:blipFill>
          <a:blip r:embed="rId2"/>
          <a:stretch>
            <a:fillRect/>
          </a:stretch>
        </p:blipFill>
        <p:spPr>
          <a:xfrm>
            <a:off x="1323489" y="1599902"/>
            <a:ext cx="6954221" cy="4267796"/>
          </a:xfr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smtClean="0">
                <a:solidFill>
                  <a:srgbClr val="FF6600"/>
                </a:solidFill>
                <a:latin typeface="Times New Roman" pitchFamily="18" charset="0"/>
                <a:cs typeface="Times New Roman" pitchFamily="18" charset="0"/>
              </a:rPr>
              <a:t>DAX MEASURES</a:t>
            </a:r>
            <a:endParaRPr lang="en-US" sz="3200" b="1" dirty="0">
              <a:solidFill>
                <a:srgbClr val="FF6600"/>
              </a:solidFill>
              <a:latin typeface="Times New Roman" pitchFamily="18" charset="0"/>
              <a:cs typeface="Times New Roman" pitchFamily="18" charset="0"/>
            </a:endParaRPr>
          </a:p>
        </p:txBody>
      </p:sp>
      <p:sp>
        <p:nvSpPr>
          <p:cNvPr id="3" name="Content Placeholder 2"/>
          <p:cNvSpPr>
            <a:spLocks noGrp="1"/>
          </p:cNvSpPr>
          <p:nvPr>
            <p:ph sz="quarter" idx="1"/>
          </p:nvPr>
        </p:nvSpPr>
        <p:spPr/>
        <p:txBody>
          <a:bodyPr/>
          <a:lstStyle/>
          <a:p>
            <a:pPr>
              <a:lnSpc>
                <a:spcPct val="150000"/>
              </a:lnSpc>
            </a:pPr>
            <a:r>
              <a:rPr lang="en-IN" sz="2000" dirty="0" smtClean="0">
                <a:latin typeface="Times New Roman" pitchFamily="18" charset="0"/>
                <a:cs typeface="Times New Roman" pitchFamily="18" charset="0"/>
              </a:rPr>
              <a:t>Dax is called as Data Analytics Expression.</a:t>
            </a:r>
          </a:p>
          <a:p>
            <a:pPr>
              <a:lnSpc>
                <a:spcPct val="150000"/>
              </a:lnSpc>
            </a:pPr>
            <a:r>
              <a:rPr lang="en-IN" sz="2000" dirty="0" smtClean="0">
                <a:latin typeface="Times New Roman" pitchFamily="18" charset="0"/>
                <a:cs typeface="Times New Roman" pitchFamily="18" charset="0"/>
              </a:rPr>
              <a:t>Dax is a formula language used in power BI.</a:t>
            </a:r>
          </a:p>
          <a:p>
            <a:pPr>
              <a:lnSpc>
                <a:spcPct val="150000"/>
              </a:lnSpc>
            </a:pPr>
            <a:r>
              <a:rPr lang="en-IN" sz="2000" dirty="0" smtClean="0">
                <a:latin typeface="Times New Roman" pitchFamily="18" charset="0"/>
                <a:cs typeface="Times New Roman" pitchFamily="18" charset="0"/>
              </a:rPr>
              <a:t>To perform calculations and data analysis.</a:t>
            </a:r>
          </a:p>
          <a:p>
            <a:pPr>
              <a:buNone/>
            </a:pPr>
            <a:r>
              <a:rPr lang="en-IN" sz="2800" b="1" dirty="0" smtClean="0">
                <a:solidFill>
                  <a:srgbClr val="FF6600"/>
                </a:solidFill>
                <a:latin typeface="Times New Roman" pitchFamily="18" charset="0"/>
                <a:cs typeface="Times New Roman" pitchFamily="18" charset="0"/>
              </a:rPr>
              <a:t>Measures :</a:t>
            </a:r>
          </a:p>
          <a:p>
            <a:pPr>
              <a:lnSpc>
                <a:spcPct val="150000"/>
              </a:lnSpc>
            </a:pPr>
            <a:r>
              <a:rPr lang="en-US" sz="2000" b="1" dirty="0" smtClean="0">
                <a:latin typeface="Times New Roman" pitchFamily="18" charset="0"/>
                <a:cs typeface="Times New Roman" pitchFamily="18" charset="0"/>
              </a:rPr>
              <a:t>Total Rides</a:t>
            </a:r>
            <a:r>
              <a:rPr lang="en-US" sz="2000" dirty="0" smtClean="0">
                <a:latin typeface="Times New Roman" pitchFamily="18" charset="0"/>
                <a:cs typeface="Times New Roman" pitchFamily="18" charset="0"/>
              </a:rPr>
              <a:t> = COUNT('</a:t>
            </a:r>
            <a:r>
              <a:rPr lang="en-US" sz="2000" dirty="0" err="1" smtClean="0">
                <a:latin typeface="Times New Roman" pitchFamily="18" charset="0"/>
                <a:cs typeface="Times New Roman" pitchFamily="18" charset="0"/>
              </a:rPr>
              <a:t>Rapido</a:t>
            </a:r>
            <a:r>
              <a:rPr lang="en-US" sz="2000" dirty="0" smtClean="0">
                <a:latin typeface="Times New Roman" pitchFamily="18" charset="0"/>
                <a:cs typeface="Times New Roman" pitchFamily="18" charset="0"/>
              </a:rPr>
              <a:t> Riders'[ride_id])</a:t>
            </a:r>
          </a:p>
          <a:p>
            <a:pPr>
              <a:lnSpc>
                <a:spcPct val="150000"/>
              </a:lnSpc>
            </a:pPr>
            <a:r>
              <a:rPr lang="en-US" sz="2000" b="1" dirty="0" smtClean="0">
                <a:latin typeface="Times New Roman" pitchFamily="18" charset="0"/>
                <a:cs typeface="Times New Roman" pitchFamily="18" charset="0"/>
              </a:rPr>
              <a:t>Total Revenue</a:t>
            </a:r>
            <a:r>
              <a:rPr lang="en-US" sz="2000" dirty="0" smtClean="0">
                <a:latin typeface="Times New Roman" pitchFamily="18" charset="0"/>
                <a:cs typeface="Times New Roman" pitchFamily="18" charset="0"/>
              </a:rPr>
              <a:t> = SUM('</a:t>
            </a:r>
            <a:r>
              <a:rPr lang="en-US" sz="2000" dirty="0" err="1" smtClean="0">
                <a:latin typeface="Times New Roman" pitchFamily="18" charset="0"/>
                <a:cs typeface="Times New Roman" pitchFamily="18" charset="0"/>
              </a:rPr>
              <a:t>Rapido</a:t>
            </a:r>
            <a:r>
              <a:rPr lang="en-US" sz="2000" dirty="0" smtClean="0">
                <a:latin typeface="Times New Roman" pitchFamily="18" charset="0"/>
                <a:cs typeface="Times New Roman" pitchFamily="18" charset="0"/>
              </a:rPr>
              <a:t> Riders'[</a:t>
            </a:r>
            <a:r>
              <a:rPr lang="en-US" sz="2000" dirty="0" err="1" smtClean="0">
                <a:latin typeface="Times New Roman" pitchFamily="18" charset="0"/>
                <a:cs typeface="Times New Roman" pitchFamily="18" charset="0"/>
              </a:rPr>
              <a:t>total_fare</a:t>
            </a:r>
            <a:r>
              <a:rPr lang="en-US" sz="2000" dirty="0" smtClean="0">
                <a:latin typeface="Times New Roman" pitchFamily="18" charset="0"/>
                <a:cs typeface="Times New Roman" pitchFamily="18" charset="0"/>
              </a:rPr>
              <a:t>])</a:t>
            </a:r>
          </a:p>
          <a:p>
            <a:pPr>
              <a:lnSpc>
                <a:spcPct val="150000"/>
              </a:lnSpc>
              <a:buNone/>
            </a:pPr>
            <a:endParaRPr lang="en-US" sz="2000" b="1" dirty="0">
              <a:solidFill>
                <a:srgbClr val="FF6600"/>
              </a:solidFill>
              <a:latin typeface="Times New Roman" pitchFamily="18" charset="0"/>
              <a:cs typeface="Times New Roman"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smtClean="0">
                <a:solidFill>
                  <a:srgbClr val="FF6600"/>
                </a:solidFill>
                <a:latin typeface="Times New Roman" pitchFamily="18" charset="0"/>
                <a:cs typeface="Times New Roman" pitchFamily="18" charset="0"/>
              </a:rPr>
              <a:t>POWER BI DASHBOARD OVERVIEW</a:t>
            </a:r>
            <a:endParaRPr lang="en-US" sz="3200" b="1" dirty="0">
              <a:solidFill>
                <a:srgbClr val="FF6600"/>
              </a:solidFill>
              <a:latin typeface="Times New Roman" pitchFamily="18" charset="0"/>
              <a:cs typeface="Times New Roman" pitchFamily="18" charset="0"/>
            </a:endParaRPr>
          </a:p>
        </p:txBody>
      </p:sp>
      <p:pic>
        <p:nvPicPr>
          <p:cNvPr id="6" name="Content Placeholder 5" descr="Screenshot 2026-03-03 201632.png"/>
          <p:cNvPicPr>
            <a:picLocks noGrp="1" noChangeAspect="1"/>
          </p:cNvPicPr>
          <p:nvPr>
            <p:ph sz="quarter" idx="1"/>
          </p:nvPr>
        </p:nvPicPr>
        <p:blipFill>
          <a:blip r:embed="rId2"/>
          <a:stretch>
            <a:fillRect/>
          </a:stretch>
        </p:blipFill>
        <p:spPr>
          <a:xfrm>
            <a:off x="914400" y="1769165"/>
            <a:ext cx="7772400" cy="3929270"/>
          </a:xfr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smtClean="0">
                <a:solidFill>
                  <a:srgbClr val="FF6600"/>
                </a:solidFill>
                <a:latin typeface="Times New Roman" pitchFamily="18" charset="0"/>
                <a:cs typeface="Times New Roman" pitchFamily="18" charset="0"/>
              </a:rPr>
              <a:t>RIDE STATUS IMPACT ANALYSIS</a:t>
            </a:r>
            <a:endParaRPr lang="en-US" sz="2800" b="1" dirty="0">
              <a:solidFill>
                <a:srgbClr val="FF6600"/>
              </a:solidFill>
              <a:latin typeface="Times New Roman" pitchFamily="18" charset="0"/>
              <a:cs typeface="Times New Roman" pitchFamily="18" charset="0"/>
            </a:endParaRPr>
          </a:p>
        </p:txBody>
      </p:sp>
      <p:sp>
        <p:nvSpPr>
          <p:cNvPr id="3" name="Content Placeholder 2"/>
          <p:cNvSpPr>
            <a:spLocks noGrp="1"/>
          </p:cNvSpPr>
          <p:nvPr>
            <p:ph sz="quarter" idx="1"/>
          </p:nvPr>
        </p:nvSpPr>
        <p:spPr/>
        <p:txBody>
          <a:bodyPr/>
          <a:lstStyle/>
          <a:p>
            <a:pPr>
              <a:lnSpc>
                <a:spcPct val="150000"/>
              </a:lnSpc>
            </a:pPr>
            <a:r>
              <a:rPr lang="en-US" sz="2000" b="1" dirty="0" smtClean="0">
                <a:latin typeface="Times New Roman" pitchFamily="18" charset="0"/>
                <a:cs typeface="Times New Roman" pitchFamily="18" charset="0"/>
              </a:rPr>
              <a:t>Donut Chart:</a:t>
            </a:r>
            <a:r>
              <a:rPr lang="en-US" sz="2000" dirty="0" smtClean="0">
                <a:latin typeface="Times New Roman" pitchFamily="18" charset="0"/>
                <a:cs typeface="Times New Roman" pitchFamily="18" charset="0"/>
              </a:rPr>
              <a:t/>
            </a:r>
            <a:br>
              <a:rPr lang="en-US" sz="2000" dirty="0" smtClean="0">
                <a:latin typeface="Times New Roman" pitchFamily="18" charset="0"/>
                <a:cs typeface="Times New Roman" pitchFamily="18" charset="0"/>
              </a:rPr>
            </a:br>
            <a:r>
              <a:rPr lang="en-US" sz="2000" dirty="0" smtClean="0">
                <a:latin typeface="Times New Roman" pitchFamily="18" charset="0"/>
                <a:cs typeface="Times New Roman" pitchFamily="18" charset="0"/>
              </a:rPr>
              <a:t>This chart is used to show the percentage distribution of ride status. It clearly represents the proportion of completed and cancelled rides</a:t>
            </a:r>
            <a:r>
              <a:rPr lang="en-US" sz="2000" dirty="0" smtClean="0"/>
              <a:t>.</a:t>
            </a:r>
            <a:endParaRPr lang="en-US" sz="2000" dirty="0" smtClean="0">
              <a:latin typeface="Times New Roman" pitchFamily="18" charset="0"/>
              <a:cs typeface="Times New Roman" pitchFamily="18" charset="0"/>
            </a:endParaRPr>
          </a:p>
          <a:p>
            <a:pPr>
              <a:lnSpc>
                <a:spcPct val="150000"/>
              </a:lnSpc>
            </a:pPr>
            <a:r>
              <a:rPr lang="en-US" sz="2000" b="1" dirty="0" smtClean="0">
                <a:latin typeface="Times New Roman" pitchFamily="18" charset="0"/>
                <a:cs typeface="Times New Roman" pitchFamily="18" charset="0"/>
              </a:rPr>
              <a:t>Legend:</a:t>
            </a:r>
            <a:r>
              <a:rPr lang="en-US" sz="2000" dirty="0" smtClean="0">
                <a:latin typeface="Times New Roman" pitchFamily="18" charset="0"/>
                <a:cs typeface="Times New Roman" pitchFamily="18" charset="0"/>
              </a:rPr>
              <a:t> Ride Status (Complete, Cancelled)</a:t>
            </a:r>
            <a:br>
              <a:rPr lang="en-US" sz="2000" dirty="0" smtClean="0">
                <a:latin typeface="Times New Roman" pitchFamily="18" charset="0"/>
                <a:cs typeface="Times New Roman" pitchFamily="18" charset="0"/>
              </a:rPr>
            </a:br>
            <a:r>
              <a:rPr lang="en-US" sz="2000" b="1" dirty="0" smtClean="0">
                <a:latin typeface="Times New Roman" pitchFamily="18" charset="0"/>
                <a:cs typeface="Times New Roman" pitchFamily="18" charset="0"/>
              </a:rPr>
              <a:t>Values:</a:t>
            </a:r>
            <a:r>
              <a:rPr lang="en-US" sz="2000" dirty="0" smtClean="0">
                <a:latin typeface="Times New Roman" pitchFamily="18" charset="0"/>
                <a:cs typeface="Times New Roman" pitchFamily="18" charset="0"/>
              </a:rPr>
              <a:t> Total Number of Rides</a:t>
            </a:r>
          </a:p>
          <a:p>
            <a:pPr>
              <a:lnSpc>
                <a:spcPct val="150000"/>
              </a:lnSpc>
            </a:pPr>
            <a:endParaRPr lang="en-US" sz="2000" dirty="0" smtClean="0">
              <a:latin typeface="Times New Roman" pitchFamily="18" charset="0"/>
              <a:cs typeface="Times New Roman" pitchFamily="18" charset="0"/>
            </a:endParaRPr>
          </a:p>
          <a:p>
            <a:endParaRPr lang="en-US" dirty="0"/>
          </a:p>
        </p:txBody>
      </p:sp>
      <p:pic>
        <p:nvPicPr>
          <p:cNvPr id="4" name="Picture 3" descr="Screenshot 2026-03-03 202448.png"/>
          <p:cNvPicPr>
            <a:picLocks noChangeAspect="1"/>
          </p:cNvPicPr>
          <p:nvPr/>
        </p:nvPicPr>
        <p:blipFill>
          <a:blip r:embed="rId2"/>
          <a:stretch>
            <a:fillRect/>
          </a:stretch>
        </p:blipFill>
        <p:spPr>
          <a:xfrm>
            <a:off x="4429124" y="4071942"/>
            <a:ext cx="3143689" cy="1714512"/>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smtClean="0">
                <a:solidFill>
                  <a:srgbClr val="FF6600"/>
                </a:solidFill>
                <a:latin typeface="Times New Roman" pitchFamily="18" charset="0"/>
                <a:cs typeface="Times New Roman" pitchFamily="18" charset="0"/>
              </a:rPr>
              <a:t>PEAK DEMAND IDENTIFICATION</a:t>
            </a:r>
            <a:endParaRPr lang="en-US" sz="2800" b="1" dirty="0">
              <a:solidFill>
                <a:srgbClr val="FF6600"/>
              </a:solidFill>
              <a:latin typeface="Times New Roman" pitchFamily="18" charset="0"/>
              <a:cs typeface="Times New Roman" pitchFamily="18" charset="0"/>
            </a:endParaRPr>
          </a:p>
        </p:txBody>
      </p:sp>
      <p:sp>
        <p:nvSpPr>
          <p:cNvPr id="3" name="Content Placeholder 2"/>
          <p:cNvSpPr>
            <a:spLocks noGrp="1"/>
          </p:cNvSpPr>
          <p:nvPr>
            <p:ph sz="quarter" idx="1"/>
          </p:nvPr>
        </p:nvSpPr>
        <p:spPr/>
        <p:txBody>
          <a:bodyPr/>
          <a:lstStyle/>
          <a:p>
            <a:pPr>
              <a:lnSpc>
                <a:spcPct val="150000"/>
              </a:lnSpc>
            </a:pPr>
            <a:r>
              <a:rPr lang="en-US" sz="2000" b="1" dirty="0" smtClean="0">
                <a:latin typeface="Times New Roman" pitchFamily="18" charset="0"/>
                <a:cs typeface="Times New Roman" pitchFamily="18" charset="0"/>
              </a:rPr>
              <a:t>Clustered Column Chart:</a:t>
            </a:r>
            <a:r>
              <a:rPr lang="en-US" sz="2000" dirty="0" smtClean="0">
                <a:latin typeface="Times New Roman" pitchFamily="18" charset="0"/>
                <a:cs typeface="Times New Roman" pitchFamily="18" charset="0"/>
              </a:rPr>
              <a:t/>
            </a:r>
            <a:br>
              <a:rPr lang="en-US" sz="2000" dirty="0" smtClean="0">
                <a:latin typeface="Times New Roman" pitchFamily="18" charset="0"/>
                <a:cs typeface="Times New Roman" pitchFamily="18" charset="0"/>
              </a:rPr>
            </a:br>
            <a:r>
              <a:rPr lang="en-US" sz="2000" dirty="0" smtClean="0">
                <a:latin typeface="Times New Roman" pitchFamily="18" charset="0"/>
                <a:cs typeface="Times New Roman" pitchFamily="18" charset="0"/>
              </a:rPr>
              <a:t>This chart is used to compare ride demand across different time periods and identify peak demand hours.</a:t>
            </a:r>
          </a:p>
          <a:p>
            <a:pPr>
              <a:lnSpc>
                <a:spcPct val="150000"/>
              </a:lnSpc>
            </a:pPr>
            <a:r>
              <a:rPr lang="en-US" sz="2000" b="1" dirty="0" smtClean="0">
                <a:latin typeface="Times New Roman" pitchFamily="18" charset="0"/>
                <a:cs typeface="Times New Roman" pitchFamily="18" charset="0"/>
              </a:rPr>
              <a:t>X-Axis:</a:t>
            </a:r>
            <a:r>
              <a:rPr lang="en-US" sz="2000" dirty="0" smtClean="0">
                <a:latin typeface="Times New Roman" pitchFamily="18" charset="0"/>
                <a:cs typeface="Times New Roman" pitchFamily="18" charset="0"/>
              </a:rPr>
              <a:t> Time Period (Morning, Afternoon, Evening, Night)</a:t>
            </a:r>
            <a:br>
              <a:rPr lang="en-US" sz="2000" dirty="0" smtClean="0">
                <a:latin typeface="Times New Roman" pitchFamily="18" charset="0"/>
                <a:cs typeface="Times New Roman" pitchFamily="18" charset="0"/>
              </a:rPr>
            </a:br>
            <a:r>
              <a:rPr lang="en-US" sz="2000" b="1" dirty="0" smtClean="0">
                <a:latin typeface="Times New Roman" pitchFamily="18" charset="0"/>
                <a:cs typeface="Times New Roman" pitchFamily="18" charset="0"/>
              </a:rPr>
              <a:t>Y-Axis:</a:t>
            </a:r>
            <a:r>
              <a:rPr lang="en-US" sz="2000" dirty="0" smtClean="0">
                <a:latin typeface="Times New Roman" pitchFamily="18" charset="0"/>
                <a:cs typeface="Times New Roman" pitchFamily="18" charset="0"/>
              </a:rPr>
              <a:t> Total Number of Rides</a:t>
            </a:r>
          </a:p>
          <a:p>
            <a:pPr>
              <a:lnSpc>
                <a:spcPct val="150000"/>
              </a:lnSpc>
            </a:pPr>
            <a:endParaRPr lang="en-US" sz="2000" dirty="0" smtClean="0">
              <a:latin typeface="Times New Roman" pitchFamily="18" charset="0"/>
              <a:cs typeface="Times New Roman" pitchFamily="18" charset="0"/>
            </a:endParaRPr>
          </a:p>
          <a:p>
            <a:endParaRPr lang="en-US" dirty="0"/>
          </a:p>
        </p:txBody>
      </p:sp>
      <p:pic>
        <p:nvPicPr>
          <p:cNvPr id="5" name="Picture 4" descr="Screenshot 2026-03-03 203222.png"/>
          <p:cNvPicPr>
            <a:picLocks noChangeAspect="1"/>
          </p:cNvPicPr>
          <p:nvPr/>
        </p:nvPicPr>
        <p:blipFill>
          <a:blip r:embed="rId2"/>
          <a:stretch>
            <a:fillRect/>
          </a:stretch>
        </p:blipFill>
        <p:spPr>
          <a:xfrm>
            <a:off x="2795939" y="4071942"/>
            <a:ext cx="3457657" cy="1857388"/>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smtClean="0">
                <a:solidFill>
                  <a:srgbClr val="FF6600"/>
                </a:solidFill>
                <a:latin typeface="Times New Roman" pitchFamily="18" charset="0"/>
                <a:cs typeface="Times New Roman" pitchFamily="18" charset="0"/>
              </a:rPr>
              <a:t>DURATION EFFICIENCY ANALYSIS</a:t>
            </a:r>
            <a:endParaRPr lang="en-US" sz="2800" b="1" dirty="0">
              <a:solidFill>
                <a:srgbClr val="FF6600"/>
              </a:solidFill>
              <a:latin typeface="Times New Roman" pitchFamily="18" charset="0"/>
              <a:cs typeface="Times New Roman" pitchFamily="18" charset="0"/>
            </a:endParaRPr>
          </a:p>
        </p:txBody>
      </p:sp>
      <p:sp>
        <p:nvSpPr>
          <p:cNvPr id="3" name="Content Placeholder 2"/>
          <p:cNvSpPr>
            <a:spLocks noGrp="1"/>
          </p:cNvSpPr>
          <p:nvPr>
            <p:ph sz="quarter" idx="1"/>
          </p:nvPr>
        </p:nvSpPr>
        <p:spPr/>
        <p:txBody>
          <a:bodyPr>
            <a:normAutofit/>
          </a:bodyPr>
          <a:lstStyle/>
          <a:p>
            <a:pPr>
              <a:lnSpc>
                <a:spcPct val="150000"/>
              </a:lnSpc>
            </a:pPr>
            <a:r>
              <a:rPr lang="en-US" sz="2000" b="1" dirty="0" smtClean="0">
                <a:latin typeface="Times New Roman" pitchFamily="18" charset="0"/>
                <a:cs typeface="Times New Roman" pitchFamily="18" charset="0"/>
              </a:rPr>
              <a:t>Bar Chart:</a:t>
            </a:r>
            <a:r>
              <a:rPr lang="en-US" sz="2000" dirty="0" smtClean="0">
                <a:latin typeface="Times New Roman" pitchFamily="18" charset="0"/>
                <a:cs typeface="Times New Roman" pitchFamily="18" charset="0"/>
              </a:rPr>
              <a:t/>
            </a:r>
            <a:br>
              <a:rPr lang="en-US" sz="2000" dirty="0" smtClean="0">
                <a:latin typeface="Times New Roman" pitchFamily="18" charset="0"/>
                <a:cs typeface="Times New Roman" pitchFamily="18" charset="0"/>
              </a:rPr>
            </a:br>
            <a:r>
              <a:rPr lang="en-US" sz="2000" dirty="0" smtClean="0">
                <a:latin typeface="Times New Roman" pitchFamily="18" charset="0"/>
                <a:cs typeface="Times New Roman" pitchFamily="18" charset="0"/>
              </a:rPr>
              <a:t>This chart is used to analyze the average ride duration across different service types and evaluate operational efficiency.</a:t>
            </a:r>
          </a:p>
          <a:p>
            <a:pPr>
              <a:lnSpc>
                <a:spcPct val="150000"/>
              </a:lnSpc>
            </a:pPr>
            <a:r>
              <a:rPr lang="en-US" sz="2000" b="1" dirty="0" smtClean="0">
                <a:latin typeface="Times New Roman" pitchFamily="18" charset="0"/>
                <a:cs typeface="Times New Roman" pitchFamily="18" charset="0"/>
              </a:rPr>
              <a:t>Y-Axis:</a:t>
            </a:r>
            <a:r>
              <a:rPr lang="en-US" sz="2000" dirty="0" smtClean="0">
                <a:latin typeface="Times New Roman" pitchFamily="18" charset="0"/>
                <a:cs typeface="Times New Roman" pitchFamily="18" charset="0"/>
              </a:rPr>
              <a:t> Services (Auto, Bike, Cab Economy, Parcel)</a:t>
            </a:r>
            <a:br>
              <a:rPr lang="en-US" sz="2000" dirty="0" smtClean="0">
                <a:latin typeface="Times New Roman" pitchFamily="18" charset="0"/>
                <a:cs typeface="Times New Roman" pitchFamily="18" charset="0"/>
              </a:rPr>
            </a:br>
            <a:r>
              <a:rPr lang="en-US" sz="2000" b="1" dirty="0" smtClean="0">
                <a:latin typeface="Times New Roman" pitchFamily="18" charset="0"/>
                <a:cs typeface="Times New Roman" pitchFamily="18" charset="0"/>
              </a:rPr>
              <a:t>X-Axis:</a:t>
            </a:r>
            <a:r>
              <a:rPr lang="en-US" sz="2000" dirty="0" smtClean="0">
                <a:latin typeface="Times New Roman" pitchFamily="18" charset="0"/>
                <a:cs typeface="Times New Roman" pitchFamily="18" charset="0"/>
              </a:rPr>
              <a:t> Average Duration</a:t>
            </a:r>
          </a:p>
          <a:p>
            <a:pPr>
              <a:lnSpc>
                <a:spcPct val="150000"/>
              </a:lnSpc>
            </a:pPr>
            <a:endParaRPr lang="en-US" sz="2000" dirty="0">
              <a:latin typeface="Times New Roman" pitchFamily="18" charset="0"/>
              <a:cs typeface="Times New Roman" pitchFamily="18" charset="0"/>
            </a:endParaRPr>
          </a:p>
        </p:txBody>
      </p:sp>
      <p:pic>
        <p:nvPicPr>
          <p:cNvPr id="4" name="Picture 3" descr="Screenshot 2026-03-03 204614.png"/>
          <p:cNvPicPr>
            <a:picLocks noChangeAspect="1"/>
          </p:cNvPicPr>
          <p:nvPr/>
        </p:nvPicPr>
        <p:blipFill>
          <a:blip r:embed="rId2"/>
          <a:stretch>
            <a:fillRect/>
          </a:stretch>
        </p:blipFill>
        <p:spPr>
          <a:xfrm>
            <a:off x="3071802" y="4214818"/>
            <a:ext cx="3357586" cy="1700422"/>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smtClean="0">
                <a:solidFill>
                  <a:srgbClr val="FF6600"/>
                </a:solidFill>
                <a:latin typeface="Times New Roman" pitchFamily="18" charset="0"/>
                <a:cs typeface="Times New Roman" pitchFamily="18" charset="0"/>
              </a:rPr>
              <a:t>PAYMENT METHOD PERFORMANCE</a:t>
            </a:r>
            <a:endParaRPr lang="en-US" sz="2800" b="1" dirty="0">
              <a:solidFill>
                <a:srgbClr val="FF6600"/>
              </a:solidFill>
              <a:latin typeface="Times New Roman" pitchFamily="18" charset="0"/>
              <a:cs typeface="Times New Roman" pitchFamily="18" charset="0"/>
            </a:endParaRPr>
          </a:p>
        </p:txBody>
      </p:sp>
      <p:sp>
        <p:nvSpPr>
          <p:cNvPr id="3" name="Content Placeholder 2"/>
          <p:cNvSpPr>
            <a:spLocks noGrp="1"/>
          </p:cNvSpPr>
          <p:nvPr>
            <p:ph sz="quarter" idx="1"/>
          </p:nvPr>
        </p:nvSpPr>
        <p:spPr/>
        <p:txBody>
          <a:bodyPr>
            <a:normAutofit/>
          </a:bodyPr>
          <a:lstStyle/>
          <a:p>
            <a:pPr>
              <a:lnSpc>
                <a:spcPct val="150000"/>
              </a:lnSpc>
            </a:pPr>
            <a:r>
              <a:rPr lang="en-US" sz="2000" b="1" dirty="0" smtClean="0">
                <a:latin typeface="Times New Roman" pitchFamily="18" charset="0"/>
                <a:cs typeface="Times New Roman" pitchFamily="18" charset="0"/>
              </a:rPr>
              <a:t>Pie Chart:</a:t>
            </a:r>
            <a:r>
              <a:rPr lang="en-US" sz="2000" dirty="0" smtClean="0">
                <a:latin typeface="Times New Roman" pitchFamily="18" charset="0"/>
                <a:cs typeface="Times New Roman" pitchFamily="18" charset="0"/>
              </a:rPr>
              <a:t/>
            </a:r>
            <a:br>
              <a:rPr lang="en-US" sz="2000" dirty="0" smtClean="0">
                <a:latin typeface="Times New Roman" pitchFamily="18" charset="0"/>
                <a:cs typeface="Times New Roman" pitchFamily="18" charset="0"/>
              </a:rPr>
            </a:br>
            <a:r>
              <a:rPr lang="en-US" sz="2000" dirty="0" smtClean="0">
                <a:latin typeface="Times New Roman" pitchFamily="18" charset="0"/>
                <a:cs typeface="Times New Roman" pitchFamily="18" charset="0"/>
              </a:rPr>
              <a:t>This chart is used to show the percentage distribution of rides across different payment methods. It helps analyze customer payment preferences.</a:t>
            </a:r>
          </a:p>
          <a:p>
            <a:pPr>
              <a:lnSpc>
                <a:spcPct val="150000"/>
              </a:lnSpc>
            </a:pPr>
            <a:r>
              <a:rPr lang="en-US" sz="2000" b="1" dirty="0" smtClean="0">
                <a:latin typeface="Times New Roman" pitchFamily="18" charset="0"/>
                <a:cs typeface="Times New Roman" pitchFamily="18" charset="0"/>
              </a:rPr>
              <a:t>Legend:</a:t>
            </a:r>
            <a:r>
              <a:rPr lang="en-US" sz="2000" dirty="0" smtClean="0">
                <a:latin typeface="Times New Roman" pitchFamily="18" charset="0"/>
                <a:cs typeface="Times New Roman" pitchFamily="18" charset="0"/>
              </a:rPr>
              <a:t> Payment Method (</a:t>
            </a:r>
            <a:r>
              <a:rPr lang="en-US" sz="2000" dirty="0" err="1" smtClean="0">
                <a:latin typeface="Times New Roman" pitchFamily="18" charset="0"/>
                <a:cs typeface="Times New Roman" pitchFamily="18" charset="0"/>
              </a:rPr>
              <a:t>Paytm</a:t>
            </a:r>
            <a:r>
              <a:rPr lang="en-US" sz="2000" dirty="0" smtClean="0">
                <a:latin typeface="Times New Roman" pitchFamily="18" charset="0"/>
                <a:cs typeface="Times New Roman" pitchFamily="18" charset="0"/>
              </a:rPr>
              <a:t>, </a:t>
            </a:r>
            <a:r>
              <a:rPr lang="en-US" sz="2000" dirty="0" err="1" smtClean="0">
                <a:latin typeface="Times New Roman" pitchFamily="18" charset="0"/>
                <a:cs typeface="Times New Roman" pitchFamily="18" charset="0"/>
              </a:rPr>
              <a:t>Gpay</a:t>
            </a:r>
            <a:r>
              <a:rPr lang="en-US" sz="2000" dirty="0" smtClean="0">
                <a:latin typeface="Times New Roman" pitchFamily="18" charset="0"/>
                <a:cs typeface="Times New Roman" pitchFamily="18" charset="0"/>
              </a:rPr>
              <a:t>, Amazon Pay, QR Scan, etc.)</a:t>
            </a:r>
            <a:br>
              <a:rPr lang="en-US" sz="2000" dirty="0" smtClean="0">
                <a:latin typeface="Times New Roman" pitchFamily="18" charset="0"/>
                <a:cs typeface="Times New Roman" pitchFamily="18" charset="0"/>
              </a:rPr>
            </a:br>
            <a:r>
              <a:rPr lang="en-US" sz="2000" b="1" dirty="0" smtClean="0">
                <a:latin typeface="Times New Roman" pitchFamily="18" charset="0"/>
                <a:cs typeface="Times New Roman" pitchFamily="18" charset="0"/>
              </a:rPr>
              <a:t>Values:</a:t>
            </a:r>
            <a:r>
              <a:rPr lang="en-US" sz="2000" dirty="0" smtClean="0">
                <a:latin typeface="Times New Roman" pitchFamily="18" charset="0"/>
                <a:cs typeface="Times New Roman" pitchFamily="18" charset="0"/>
              </a:rPr>
              <a:t> Total Number of Rides</a:t>
            </a:r>
          </a:p>
          <a:p>
            <a:pPr>
              <a:lnSpc>
                <a:spcPct val="150000"/>
              </a:lnSpc>
            </a:pPr>
            <a:endParaRPr lang="en-US" sz="2000" dirty="0">
              <a:latin typeface="Times New Roman" pitchFamily="18" charset="0"/>
              <a:cs typeface="Times New Roman" pitchFamily="18" charset="0"/>
            </a:endParaRPr>
          </a:p>
        </p:txBody>
      </p:sp>
      <p:pic>
        <p:nvPicPr>
          <p:cNvPr id="4" name="Picture 3" descr="Screenshot 2026-03-03 205301.png"/>
          <p:cNvPicPr>
            <a:picLocks noChangeAspect="1"/>
          </p:cNvPicPr>
          <p:nvPr/>
        </p:nvPicPr>
        <p:blipFill>
          <a:blip r:embed="rId2"/>
          <a:stretch>
            <a:fillRect/>
          </a:stretch>
        </p:blipFill>
        <p:spPr>
          <a:xfrm>
            <a:off x="3357555" y="4500570"/>
            <a:ext cx="3143272" cy="1500198"/>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smtClean="0">
                <a:solidFill>
                  <a:srgbClr val="FF6600"/>
                </a:solidFill>
                <a:latin typeface="Times New Roman" pitchFamily="18" charset="0"/>
                <a:cs typeface="Times New Roman" pitchFamily="18" charset="0"/>
              </a:rPr>
              <a:t>TOP DESTINATION LOCATION</a:t>
            </a:r>
            <a:endParaRPr lang="en-US" sz="2800" b="1" dirty="0">
              <a:solidFill>
                <a:srgbClr val="FF6600"/>
              </a:solidFill>
              <a:latin typeface="Times New Roman" pitchFamily="18" charset="0"/>
              <a:cs typeface="Times New Roman" pitchFamily="18" charset="0"/>
            </a:endParaRPr>
          </a:p>
        </p:txBody>
      </p:sp>
      <p:sp>
        <p:nvSpPr>
          <p:cNvPr id="3" name="Content Placeholder 2"/>
          <p:cNvSpPr>
            <a:spLocks noGrp="1"/>
          </p:cNvSpPr>
          <p:nvPr>
            <p:ph sz="quarter" idx="1"/>
          </p:nvPr>
        </p:nvSpPr>
        <p:spPr/>
        <p:txBody>
          <a:bodyPr/>
          <a:lstStyle/>
          <a:p>
            <a:pPr>
              <a:lnSpc>
                <a:spcPct val="150000"/>
              </a:lnSpc>
            </a:pPr>
            <a:r>
              <a:rPr lang="en-US" sz="2000" b="1" dirty="0" smtClean="0">
                <a:latin typeface="Times New Roman" pitchFamily="18" charset="0"/>
                <a:cs typeface="Times New Roman" pitchFamily="18" charset="0"/>
              </a:rPr>
              <a:t>Bar Chart:</a:t>
            </a:r>
            <a:r>
              <a:rPr lang="en-US" sz="2000" dirty="0" smtClean="0">
                <a:latin typeface="Times New Roman" pitchFamily="18" charset="0"/>
                <a:cs typeface="Times New Roman" pitchFamily="18" charset="0"/>
              </a:rPr>
              <a:t/>
            </a:r>
            <a:br>
              <a:rPr lang="en-US" sz="2000" dirty="0" smtClean="0">
                <a:latin typeface="Times New Roman" pitchFamily="18" charset="0"/>
                <a:cs typeface="Times New Roman" pitchFamily="18" charset="0"/>
              </a:rPr>
            </a:br>
            <a:r>
              <a:rPr lang="en-US" sz="2000" dirty="0" smtClean="0">
                <a:latin typeface="Times New Roman" pitchFamily="18" charset="0"/>
                <a:cs typeface="Times New Roman" pitchFamily="18" charset="0"/>
              </a:rPr>
              <a:t>This chart is used to identify the top destination locations based on the number of rides. It helps understand high-demand drop-off areas.</a:t>
            </a:r>
          </a:p>
          <a:p>
            <a:pPr>
              <a:lnSpc>
                <a:spcPct val="150000"/>
              </a:lnSpc>
            </a:pPr>
            <a:r>
              <a:rPr lang="en-US" sz="2000" b="1" dirty="0" smtClean="0">
                <a:latin typeface="Times New Roman" pitchFamily="18" charset="0"/>
                <a:cs typeface="Times New Roman" pitchFamily="18" charset="0"/>
              </a:rPr>
              <a:t>Y-Axis:</a:t>
            </a:r>
            <a:r>
              <a:rPr lang="en-US" sz="2000" dirty="0" smtClean="0">
                <a:latin typeface="Times New Roman" pitchFamily="18" charset="0"/>
                <a:cs typeface="Times New Roman" pitchFamily="18" charset="0"/>
              </a:rPr>
              <a:t> Destination Location (</a:t>
            </a:r>
            <a:r>
              <a:rPr lang="en-US" sz="2000" dirty="0" err="1" smtClean="0">
                <a:latin typeface="Times New Roman" pitchFamily="18" charset="0"/>
                <a:cs typeface="Times New Roman" pitchFamily="18" charset="0"/>
              </a:rPr>
              <a:t>Yeshwanthpur</a:t>
            </a:r>
            <a:r>
              <a:rPr lang="en-US" sz="2000" dirty="0" smtClean="0">
                <a:latin typeface="Times New Roman" pitchFamily="18" charset="0"/>
                <a:cs typeface="Times New Roman" pitchFamily="18" charset="0"/>
              </a:rPr>
              <a:t> Way, </a:t>
            </a:r>
            <a:r>
              <a:rPr lang="en-US" sz="2000" dirty="0" err="1" smtClean="0">
                <a:latin typeface="Times New Roman" pitchFamily="18" charset="0"/>
                <a:cs typeface="Times New Roman" pitchFamily="18" charset="0"/>
              </a:rPr>
              <a:t>Yeshwanthpur</a:t>
            </a:r>
            <a:r>
              <a:rPr lang="en-US" sz="2000" dirty="0" smtClean="0">
                <a:latin typeface="Times New Roman" pitchFamily="18" charset="0"/>
                <a:cs typeface="Times New Roman" pitchFamily="18" charset="0"/>
              </a:rPr>
              <a:t> Woods, etc.)</a:t>
            </a:r>
            <a:br>
              <a:rPr lang="en-US" sz="2000" dirty="0" smtClean="0">
                <a:latin typeface="Times New Roman" pitchFamily="18" charset="0"/>
                <a:cs typeface="Times New Roman" pitchFamily="18" charset="0"/>
              </a:rPr>
            </a:br>
            <a:r>
              <a:rPr lang="en-US" sz="2000" b="1" dirty="0" smtClean="0">
                <a:latin typeface="Times New Roman" pitchFamily="18" charset="0"/>
                <a:cs typeface="Times New Roman" pitchFamily="18" charset="0"/>
              </a:rPr>
              <a:t>X-Axis:</a:t>
            </a:r>
            <a:r>
              <a:rPr lang="en-US" sz="2000" dirty="0" smtClean="0">
                <a:latin typeface="Times New Roman" pitchFamily="18" charset="0"/>
                <a:cs typeface="Times New Roman" pitchFamily="18" charset="0"/>
              </a:rPr>
              <a:t> Total Number of Rides</a:t>
            </a:r>
          </a:p>
          <a:p>
            <a:pPr>
              <a:lnSpc>
                <a:spcPct val="150000"/>
              </a:lnSpc>
            </a:pPr>
            <a:endParaRPr lang="en-US" sz="2000" dirty="0" smtClean="0">
              <a:latin typeface="Times New Roman" pitchFamily="18" charset="0"/>
              <a:cs typeface="Times New Roman" pitchFamily="18" charset="0"/>
            </a:endParaRPr>
          </a:p>
          <a:p>
            <a:endParaRPr lang="en-US" dirty="0"/>
          </a:p>
        </p:txBody>
      </p:sp>
      <p:pic>
        <p:nvPicPr>
          <p:cNvPr id="4" name="Picture 3" descr="Screenshot 2026-03-03 205647.png"/>
          <p:cNvPicPr>
            <a:picLocks noChangeAspect="1"/>
          </p:cNvPicPr>
          <p:nvPr/>
        </p:nvPicPr>
        <p:blipFill>
          <a:blip r:embed="rId2"/>
          <a:stretch>
            <a:fillRect/>
          </a:stretch>
        </p:blipFill>
        <p:spPr>
          <a:xfrm>
            <a:off x="3286116" y="4357694"/>
            <a:ext cx="3677163" cy="1567072"/>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smtClean="0">
                <a:solidFill>
                  <a:srgbClr val="FF6600"/>
                </a:solidFill>
                <a:latin typeface="Times New Roman" pitchFamily="18" charset="0"/>
                <a:cs typeface="Times New Roman" pitchFamily="18" charset="0"/>
              </a:rPr>
              <a:t>DAILY DEMAND TREND</a:t>
            </a:r>
            <a:endParaRPr lang="en-US" sz="2800" b="1" dirty="0">
              <a:solidFill>
                <a:srgbClr val="FF6600"/>
              </a:solidFill>
              <a:latin typeface="Times New Roman" pitchFamily="18" charset="0"/>
              <a:cs typeface="Times New Roman" pitchFamily="18" charset="0"/>
            </a:endParaRPr>
          </a:p>
        </p:txBody>
      </p:sp>
      <p:sp>
        <p:nvSpPr>
          <p:cNvPr id="3" name="Content Placeholder 2"/>
          <p:cNvSpPr>
            <a:spLocks noGrp="1"/>
          </p:cNvSpPr>
          <p:nvPr>
            <p:ph sz="quarter" idx="1"/>
          </p:nvPr>
        </p:nvSpPr>
        <p:spPr/>
        <p:txBody>
          <a:bodyPr/>
          <a:lstStyle/>
          <a:p>
            <a:pPr>
              <a:lnSpc>
                <a:spcPct val="150000"/>
              </a:lnSpc>
            </a:pPr>
            <a:r>
              <a:rPr lang="en-US" sz="2000" b="1" dirty="0" smtClean="0">
                <a:latin typeface="Times New Roman" pitchFamily="18" charset="0"/>
                <a:cs typeface="Times New Roman" pitchFamily="18" charset="0"/>
              </a:rPr>
              <a:t>Line Chart:</a:t>
            </a:r>
            <a:r>
              <a:rPr lang="en-US" sz="2000" dirty="0" smtClean="0">
                <a:latin typeface="Times New Roman" pitchFamily="18" charset="0"/>
                <a:cs typeface="Times New Roman" pitchFamily="18" charset="0"/>
              </a:rPr>
              <a:t/>
            </a:r>
            <a:br>
              <a:rPr lang="en-US" sz="2000" dirty="0" smtClean="0">
                <a:latin typeface="Times New Roman" pitchFamily="18" charset="0"/>
                <a:cs typeface="Times New Roman" pitchFamily="18" charset="0"/>
              </a:rPr>
            </a:br>
            <a:r>
              <a:rPr lang="en-US" sz="2000" dirty="0" smtClean="0">
                <a:latin typeface="Times New Roman" pitchFamily="18" charset="0"/>
                <a:cs typeface="Times New Roman" pitchFamily="18" charset="0"/>
              </a:rPr>
              <a:t>This chart is used to analyze the daily ride demand trend over a period of time and identify fluctuations in ride volume.</a:t>
            </a:r>
          </a:p>
          <a:p>
            <a:pPr>
              <a:lnSpc>
                <a:spcPct val="150000"/>
              </a:lnSpc>
            </a:pPr>
            <a:r>
              <a:rPr lang="en-US" sz="2000" b="1" dirty="0" smtClean="0">
                <a:latin typeface="Times New Roman" pitchFamily="18" charset="0"/>
                <a:cs typeface="Times New Roman" pitchFamily="18" charset="0"/>
              </a:rPr>
              <a:t>X-Axis:</a:t>
            </a:r>
            <a:r>
              <a:rPr lang="en-US" sz="2000" dirty="0" smtClean="0">
                <a:latin typeface="Times New Roman" pitchFamily="18" charset="0"/>
                <a:cs typeface="Times New Roman" pitchFamily="18" charset="0"/>
              </a:rPr>
              <a:t> Date</a:t>
            </a:r>
            <a:br>
              <a:rPr lang="en-US" sz="2000" dirty="0" smtClean="0">
                <a:latin typeface="Times New Roman" pitchFamily="18" charset="0"/>
                <a:cs typeface="Times New Roman" pitchFamily="18" charset="0"/>
              </a:rPr>
            </a:br>
            <a:r>
              <a:rPr lang="en-US" sz="2000" b="1" dirty="0" smtClean="0">
                <a:latin typeface="Times New Roman" pitchFamily="18" charset="0"/>
                <a:cs typeface="Times New Roman" pitchFamily="18" charset="0"/>
              </a:rPr>
              <a:t>Y-Axis:</a:t>
            </a:r>
            <a:r>
              <a:rPr lang="en-US" sz="2000" dirty="0" smtClean="0">
                <a:latin typeface="Times New Roman" pitchFamily="18" charset="0"/>
                <a:cs typeface="Times New Roman" pitchFamily="18" charset="0"/>
              </a:rPr>
              <a:t> Total Number of Rides</a:t>
            </a:r>
            <a:br>
              <a:rPr lang="en-US" sz="2000" dirty="0" smtClean="0">
                <a:latin typeface="Times New Roman" pitchFamily="18" charset="0"/>
                <a:cs typeface="Times New Roman" pitchFamily="18" charset="0"/>
              </a:rPr>
            </a:br>
            <a:r>
              <a:rPr lang="en-US" sz="2000" b="1" dirty="0" smtClean="0">
                <a:latin typeface="Times New Roman" pitchFamily="18" charset="0"/>
                <a:cs typeface="Times New Roman" pitchFamily="18" charset="0"/>
              </a:rPr>
              <a:t>Legend:</a:t>
            </a:r>
            <a:r>
              <a:rPr lang="en-US" sz="2000" dirty="0" smtClean="0">
                <a:latin typeface="Times New Roman" pitchFamily="18" charset="0"/>
                <a:cs typeface="Times New Roman" pitchFamily="18" charset="0"/>
              </a:rPr>
              <a:t> Month Name (June, July, August)</a:t>
            </a:r>
          </a:p>
          <a:p>
            <a:endParaRPr lang="en-US" dirty="0"/>
          </a:p>
        </p:txBody>
      </p:sp>
      <p:pic>
        <p:nvPicPr>
          <p:cNvPr id="5" name="Picture 4" descr="Screenshot 2026-03-04 084158.png"/>
          <p:cNvPicPr>
            <a:picLocks noChangeAspect="1"/>
          </p:cNvPicPr>
          <p:nvPr/>
        </p:nvPicPr>
        <p:blipFill>
          <a:blip r:embed="rId2"/>
          <a:stretch>
            <a:fillRect/>
          </a:stretch>
        </p:blipFill>
        <p:spPr>
          <a:xfrm>
            <a:off x="2071670" y="4500570"/>
            <a:ext cx="3162742" cy="1524213"/>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b="1" dirty="0" smtClean="0">
                <a:solidFill>
                  <a:srgbClr val="FF6600"/>
                </a:solidFill>
                <a:latin typeface="Times New Roman" pitchFamily="18" charset="0"/>
                <a:cs typeface="Times New Roman" pitchFamily="18" charset="0"/>
              </a:rPr>
              <a:t>CONCLUSION</a:t>
            </a:r>
            <a:endParaRPr lang="en-US" sz="2800" b="1" dirty="0">
              <a:solidFill>
                <a:srgbClr val="FF6600"/>
              </a:solidFill>
              <a:latin typeface="Times New Roman" pitchFamily="18" charset="0"/>
              <a:cs typeface="Times New Roman" pitchFamily="18" charset="0"/>
            </a:endParaRPr>
          </a:p>
        </p:txBody>
      </p:sp>
      <p:sp>
        <p:nvSpPr>
          <p:cNvPr id="3" name="Content Placeholder 2"/>
          <p:cNvSpPr>
            <a:spLocks noGrp="1"/>
          </p:cNvSpPr>
          <p:nvPr>
            <p:ph sz="quarter" idx="1"/>
          </p:nvPr>
        </p:nvSpPr>
        <p:spPr>
          <a:xfrm>
            <a:off x="914400" y="1447800"/>
            <a:ext cx="7772400" cy="5053034"/>
          </a:xfrm>
        </p:spPr>
        <p:txBody>
          <a:bodyPr>
            <a:normAutofit/>
          </a:bodyPr>
          <a:lstStyle/>
          <a:p>
            <a:pPr>
              <a:lnSpc>
                <a:spcPct val="110000"/>
              </a:lnSpc>
            </a:pPr>
            <a:r>
              <a:rPr lang="en-US" sz="2000" dirty="0" smtClean="0">
                <a:latin typeface="Times New Roman" pitchFamily="18" charset="0"/>
                <a:cs typeface="Times New Roman" pitchFamily="18" charset="0"/>
              </a:rPr>
              <a:t>The </a:t>
            </a:r>
            <a:r>
              <a:rPr lang="en-US" sz="2000" dirty="0" err="1" smtClean="0">
                <a:latin typeface="Times New Roman" pitchFamily="18" charset="0"/>
                <a:cs typeface="Times New Roman" pitchFamily="18" charset="0"/>
              </a:rPr>
              <a:t>Rapido</a:t>
            </a:r>
            <a:r>
              <a:rPr lang="en-US" sz="2000" dirty="0" smtClean="0">
                <a:latin typeface="Times New Roman" pitchFamily="18" charset="0"/>
                <a:cs typeface="Times New Roman" pitchFamily="18" charset="0"/>
              </a:rPr>
              <a:t> Riders Dashboard in Power BI provides a comprehensive view of ride demand, revenue performance, service contribution, and operational efficiency.</a:t>
            </a:r>
          </a:p>
          <a:p>
            <a:pPr>
              <a:lnSpc>
                <a:spcPct val="110000"/>
              </a:lnSpc>
            </a:pPr>
            <a:r>
              <a:rPr lang="en-US" sz="2000" dirty="0" smtClean="0">
                <a:latin typeface="Times New Roman" pitchFamily="18" charset="0"/>
                <a:cs typeface="Times New Roman" pitchFamily="18" charset="0"/>
              </a:rPr>
              <a:t>The analysis shows a strong completion rate of 90%, indicating stable service performance, while the 10% cancellation rate highlights opportunities for operational improvement. Peak demand trends help in better driver allocation, and service-wise analysis identifies top-performing ride categories.</a:t>
            </a:r>
          </a:p>
          <a:p>
            <a:pPr>
              <a:lnSpc>
                <a:spcPct val="110000"/>
              </a:lnSpc>
            </a:pPr>
            <a:r>
              <a:rPr lang="en-US" sz="2000" dirty="0" smtClean="0">
                <a:latin typeface="Times New Roman" pitchFamily="18" charset="0"/>
                <a:cs typeface="Times New Roman" pitchFamily="18" charset="0"/>
              </a:rPr>
              <a:t>Payment method insights reveal customer preferences, and profitability analysis helps understand the balance between revenue and operational costs.</a:t>
            </a:r>
          </a:p>
          <a:p>
            <a:pPr>
              <a:lnSpc>
                <a:spcPct val="110000"/>
              </a:lnSpc>
            </a:pPr>
            <a:r>
              <a:rPr lang="en-US" sz="2000" dirty="0" smtClean="0">
                <a:latin typeface="Times New Roman" pitchFamily="18" charset="0"/>
                <a:cs typeface="Times New Roman" pitchFamily="18" charset="0"/>
              </a:rPr>
              <a:t>Overall, this dashboard enables data-driven decision-making, improves operational planning, and supports revenue optimization strategies for better business growth.</a:t>
            </a:r>
          </a:p>
          <a:p>
            <a:pPr>
              <a:lnSpc>
                <a:spcPct val="110000"/>
              </a:lnSpc>
            </a:pPr>
            <a:endParaRPr lang="en-US" sz="2000" dirty="0">
              <a:latin typeface="Times New Roman" pitchFamily="18" charset="0"/>
              <a:cs typeface="Times New Roman"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14620"/>
            <a:ext cx="7372376" cy="928694"/>
          </a:xfrm>
        </p:spPr>
        <p:txBody>
          <a:bodyPr>
            <a:normAutofit/>
          </a:bodyPr>
          <a:lstStyle/>
          <a:p>
            <a:pPr algn="ctr"/>
            <a:r>
              <a:rPr lang="en-IN" b="1" dirty="0" smtClean="0">
                <a:solidFill>
                  <a:srgbClr val="FF6600"/>
                </a:solidFill>
                <a:effectLst>
                  <a:outerShdw blurRad="38100" dist="38100" dir="2700000" algn="tl">
                    <a:srgbClr val="000000">
                      <a:alpha val="43137"/>
                    </a:srgbClr>
                  </a:outerShdw>
                </a:effectLst>
                <a:latin typeface="Times New Roman" pitchFamily="18" charset="0"/>
                <a:cs typeface="Times New Roman" pitchFamily="18" charset="0"/>
              </a:rPr>
              <a:t>THANK YOU</a:t>
            </a:r>
            <a:endParaRPr lang="en-US" b="1" dirty="0">
              <a:solidFill>
                <a:srgbClr val="FF6600"/>
              </a:solidFill>
              <a:effectLst>
                <a:outerShdw blurRad="38100" dist="38100" dir="2700000" algn="tl">
                  <a:srgbClr val="000000">
                    <a:alpha val="43137"/>
                  </a:srgbClr>
                </a:outerShdw>
              </a:effectLst>
              <a:latin typeface="Times New Roman" pitchFamily="18" charset="0"/>
              <a:cs typeface="Times New Roman" pitchFamily="18" charset="0"/>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162</TotalTime>
  <Words>682</Words>
  <Application>Microsoft Office PowerPoint</Application>
  <PresentationFormat>On-screen Show (4:3)</PresentationFormat>
  <Paragraphs>81</Paragraphs>
  <Slides>19</Slides>
  <Notes>0</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Equity</vt:lpstr>
      <vt:lpstr>RAPIDO RIDE PERFORMANCE</vt:lpstr>
      <vt:lpstr>INTRODUCTION</vt:lpstr>
      <vt:lpstr>PROBLEM STATEMENT</vt:lpstr>
      <vt:lpstr>BUSINESS PROBLEM</vt:lpstr>
      <vt:lpstr>DATA OVERVIEW</vt:lpstr>
      <vt:lpstr>TECHNOLOGY USED</vt:lpstr>
      <vt:lpstr>DATA PREPROCESSING</vt:lpstr>
      <vt:lpstr>KEY METRICS AND KPI’S</vt:lpstr>
      <vt:lpstr>DATA MODELING- OVERVIEW</vt:lpstr>
      <vt:lpstr>DAX MEASURES</vt:lpstr>
      <vt:lpstr>POWER BI DASHBOARD OVERVIEW</vt:lpstr>
      <vt:lpstr>RIDE STATUS IMPACT ANALYSIS</vt:lpstr>
      <vt:lpstr>PEAK DEMAND IDENTIFICATION</vt:lpstr>
      <vt:lpstr>DURATION EFFICIENCY ANALYSIS</vt:lpstr>
      <vt:lpstr>PAYMENT METHOD PERFORMANCE</vt:lpstr>
      <vt:lpstr>TOP DESTINATION LOCATION</vt:lpstr>
      <vt:lpstr>DAILY DEMAND TREND</vt:lpstr>
      <vt:lpstr>CONCLUSION</vt:lpstr>
      <vt:lpstr>THANK YOU</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RAPIDO RIDE PERFORMANCE</dc:title>
  <dc:creator>Admin</dc:creator>
  <cp:lastModifiedBy>Admin</cp:lastModifiedBy>
  <cp:revision>2</cp:revision>
  <dcterms:created xsi:type="dcterms:W3CDTF">2026-03-03T13:08:40Z</dcterms:created>
  <dcterms:modified xsi:type="dcterms:W3CDTF">2026-03-04T03:26:21Z</dcterms:modified>
</cp:coreProperties>
</file>